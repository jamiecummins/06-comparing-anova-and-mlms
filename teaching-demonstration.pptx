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Meta-talk - I envision this as embedded in a broader course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Kill some RCT stuff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4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9" name="Shape 4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Is it fair to assume every therapist is exactly as effective as every other one?</a:t>
            </a:r>
          </a:p>
          <a:p>
            <a:pPr/>
          </a:p>
          <a:p>
            <a:pPr/>
            <a:r>
              <a:t>Change their names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4" name="Shape 4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statistical notation - where is the therapist in the model?</a:t>
            </a:r>
          </a:p>
          <a:p>
            <a:pPr/>
            <a:r>
              <a:t>You as second year bachelor students may not be familiar with this notation, but can see therapist is not in the model - question: where is therapist in this model?</a:t>
            </a:r>
          </a:p>
          <a:p>
            <a:pPr/>
            <a:r>
              <a:t>Something they already know IRL, show stats do not account for it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5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5" name="Shape 5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If these are the same, we might as well do MLM - and chuck in extra bits - latter one gives flexibility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5" name="Shape 6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Better pivot into simulation </a:t>
            </a:r>
          </a:p>
          <a:p>
            <a:pPr/>
            <a:r>
              <a:t>We will understand long run error rate through monte carlo simulation - intro earlier in the course (like everything in the course) </a:t>
            </a:r>
          </a:p>
          <a:p>
            <a:pPr/>
            <a:r>
              <a:t>Multiple participants; multiple therapists -&gt; then offer specific values with the simulator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6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1" name="Shape 6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Statistical model on slide + what it means in world - show plots of what these effects look like/common language of what these mean </a:t>
            </a:r>
          </a:p>
          <a:p>
            <a:pPr/>
            <a:r>
              <a:t>Why the random slope bigger in treatment vs. standard care - an explanation that could be given to a lay person</a:t>
            </a:r>
          </a:p>
          <a:p>
            <a:pPr/>
            <a:r>
              <a:t>Some people respond to therapy more than others, we just model this </a:t>
            </a:r>
          </a:p>
          <a:p>
            <a:pPr/>
            <a:r>
              <a:t>Is there a simpler example that could be here?</a:t>
            </a:r>
          </a:p>
          <a:p>
            <a:pPr/>
            <a:r>
              <a:t>Plot the REs? - without any focus on downstream results? Cover next week the inferential aspects of this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7" name="Shape 6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Make all distributions waayyyyyy smoother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6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75" name="Shape 6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Need to explain why distribution is not flat</a:t>
            </a:r>
          </a:p>
          <a:p>
            <a:pPr/>
            <a:r>
              <a:t>Info from RE leaks to fixed - models get confused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7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2" name="Shape 7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Multilevel models are more flexible, and can represent a better model of the world </a:t>
            </a:r>
          </a:p>
          <a:p>
            <a:pPr/>
            <a:r>
              <a:t>Everything is a linear model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9" name="Shape 7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Practice questions, not revision questions</a:t>
            </a:r>
          </a:p>
          <a:p>
            <a:pPr/>
            <a:r>
              <a:t>[think about ref]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6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7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" name="Rounded Rectangle"/>
          <p:cNvSpPr/>
          <p:nvPr/>
        </p:nvSpPr>
        <p:spPr>
          <a:xfrm>
            <a:off x="284106" y="394841"/>
            <a:ext cx="2638711" cy="273380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" name="Rounded Rectangle"/>
          <p:cNvSpPr/>
          <p:nvPr/>
        </p:nvSpPr>
        <p:spPr>
          <a:xfrm>
            <a:off x="4004825" y="394841"/>
            <a:ext cx="2643383" cy="273380"/>
          </a:xfrm>
          <a:prstGeom prst="roundRect">
            <a:avLst>
              <a:gd name="adj" fmla="val 50000"/>
            </a:avLst>
          </a:prstGeom>
          <a:solidFill>
            <a:srgbClr val="0F869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" name="Rounded Rectangle"/>
          <p:cNvSpPr/>
          <p:nvPr/>
        </p:nvSpPr>
        <p:spPr>
          <a:xfrm>
            <a:off x="7730216" y="394841"/>
            <a:ext cx="2638712" cy="273380"/>
          </a:xfrm>
          <a:prstGeom prst="roundRect">
            <a:avLst>
              <a:gd name="adj" fmla="val 50000"/>
            </a:avLst>
          </a:prstGeom>
          <a:solidFill>
            <a:srgbClr val="E1A12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" name="Rounded Rectangle"/>
          <p:cNvSpPr/>
          <p:nvPr/>
        </p:nvSpPr>
        <p:spPr>
          <a:xfrm>
            <a:off x="11450935" y="394841"/>
            <a:ext cx="2638712" cy="273380"/>
          </a:xfrm>
          <a:prstGeom prst="roundRect">
            <a:avLst>
              <a:gd name="adj" fmla="val 50000"/>
            </a:avLst>
          </a:prstGeom>
          <a:solidFill>
            <a:srgbClr val="B6455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0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31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32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1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42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5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9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0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0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90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8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7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8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5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44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3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4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Rounded Rectangle"/>
          <p:cNvSpPr/>
          <p:nvPr/>
        </p:nvSpPr>
        <p:spPr>
          <a:xfrm>
            <a:off x="306253" y="1302874"/>
            <a:ext cx="172852" cy="1847990"/>
          </a:xfrm>
          <a:prstGeom prst="roundRect">
            <a:avLst>
              <a:gd name="adj" fmla="val 50000"/>
            </a:avLst>
          </a:prstGeom>
          <a:solidFill>
            <a:srgbClr val="2D6FA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" name="Rounded Rectangle"/>
          <p:cNvSpPr/>
          <p:nvPr/>
        </p:nvSpPr>
        <p:spPr>
          <a:xfrm>
            <a:off x="306253" y="4377695"/>
            <a:ext cx="172852" cy="1847989"/>
          </a:xfrm>
          <a:prstGeom prst="roundRect">
            <a:avLst>
              <a:gd name="adj" fmla="val 50000"/>
            </a:avLst>
          </a:prstGeom>
          <a:solidFill>
            <a:srgbClr val="0F869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" name="Rounded Rectangle"/>
          <p:cNvSpPr/>
          <p:nvPr/>
        </p:nvSpPr>
        <p:spPr>
          <a:xfrm>
            <a:off x="306253" y="7452515"/>
            <a:ext cx="172852" cy="1847990"/>
          </a:xfrm>
          <a:prstGeom prst="roundRect">
            <a:avLst>
              <a:gd name="adj" fmla="val 50000"/>
            </a:avLst>
          </a:prstGeom>
          <a:solidFill>
            <a:srgbClr val="E1A12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" name="Rounded Rectangle"/>
          <p:cNvSpPr/>
          <p:nvPr/>
        </p:nvSpPr>
        <p:spPr>
          <a:xfrm>
            <a:off x="306253" y="10527336"/>
            <a:ext cx="172852" cy="1847989"/>
          </a:xfrm>
          <a:prstGeom prst="roundRect">
            <a:avLst>
              <a:gd name="adj" fmla="val 50000"/>
            </a:avLst>
          </a:prstGeom>
          <a:solidFill>
            <a:srgbClr val="B6455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://simulations.tidyver.se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hyperlink" Target="https://jamiecummins.shinyapps.io/comparing-anova-and-mlms/" TargetMode="External"/><Relationship Id="rId4" Type="http://schemas.openxmlformats.org/officeDocument/2006/relationships/image" Target="../media/image32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://simulations.tidyver.se" TargetMode="Externa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r. Jamie Cummins"/>
          <p:cNvSpPr txBox="1"/>
          <p:nvPr/>
        </p:nvSpPr>
        <p:spPr>
          <a:xfrm>
            <a:off x="1201340" y="11859862"/>
            <a:ext cx="21971003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Dr. Jamie Cummins</a:t>
            </a:r>
          </a:p>
        </p:txBody>
      </p:sp>
      <p:sp>
        <p:nvSpPr>
          <p:cNvPr id="180" name="Teaching Demonstration, University of Luzern"/>
          <p:cNvSpPr txBox="1"/>
          <p:nvPr/>
        </p:nvSpPr>
        <p:spPr>
          <a:xfrm>
            <a:off x="1206499" y="12496247"/>
            <a:ext cx="21971002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Teaching Demonstration, University of Luzern</a:t>
            </a:r>
          </a:p>
        </p:txBody>
      </p:sp>
      <p:sp>
        <p:nvSpPr>
          <p:cNvPr id="181" name="Rounded Rectangle"/>
          <p:cNvSpPr/>
          <p:nvPr/>
        </p:nvSpPr>
        <p:spPr>
          <a:xfrm>
            <a:off x="904226" y="1293433"/>
            <a:ext cx="21661787" cy="4908014"/>
          </a:xfrm>
          <a:prstGeom prst="roundRect">
            <a:avLst>
              <a:gd name="adj" fmla="val 947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2" name="Rounded Rectangle"/>
          <p:cNvSpPr/>
          <p:nvPr/>
        </p:nvSpPr>
        <p:spPr>
          <a:xfrm>
            <a:off x="10681798" y="7579249"/>
            <a:ext cx="13517177" cy="2380472"/>
          </a:xfrm>
          <a:prstGeom prst="roundRect">
            <a:avLst>
              <a:gd name="adj" fmla="val 12184"/>
            </a:avLst>
          </a:prstGeom>
          <a:solidFill>
            <a:srgbClr val="FF4C54">
              <a:alpha val="15248"/>
            </a:srgbClr>
          </a:solidFill>
          <a:ln w="25400">
            <a:solidFill>
              <a:srgbClr val="000000">
                <a:alpha val="152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3" name="Vergleich von linear mixed models und mixed effects ANOVA zur Analyse des klassischen Therapie-Evaluationsdesigns"/>
          <p:cNvSpPr txBox="1"/>
          <p:nvPr>
            <p:ph type="ctrTitle"/>
          </p:nvPr>
        </p:nvSpPr>
        <p:spPr>
          <a:xfrm>
            <a:off x="1784788" y="786955"/>
            <a:ext cx="21971004" cy="4648201"/>
          </a:xfrm>
          <a:prstGeom prst="rect">
            <a:avLst/>
          </a:prstGeom>
        </p:spPr>
        <p:txBody>
          <a:bodyPr/>
          <a:lstStyle>
            <a:lvl1pPr>
              <a:defRPr spc="-168" sz="8400"/>
            </a:lvl1pPr>
          </a:lstStyle>
          <a:p>
            <a:pPr/>
            <a:r>
              <a:t>Vergleich von linear mixed models und mixed effects ANOVA zur Analyse des klassischen Therapie-Evaluationsdesigns</a:t>
            </a:r>
          </a:p>
        </p:txBody>
      </p:sp>
      <p:sp>
        <p:nvSpPr>
          <p:cNvPr id="184" name="Comparison of linear mixed models and mixed effects ANOVA for the analysis of the classical therapy evaluation design"/>
          <p:cNvSpPr txBox="1"/>
          <p:nvPr>
            <p:ph type="subTitle" sz="quarter" idx="1"/>
          </p:nvPr>
        </p:nvSpPr>
        <p:spPr>
          <a:xfrm>
            <a:off x="11056819" y="7816984"/>
            <a:ext cx="12767135" cy="1905001"/>
          </a:xfrm>
          <a:prstGeom prst="rect">
            <a:avLst/>
          </a:prstGeom>
        </p:spPr>
        <p:txBody>
          <a:bodyPr/>
          <a:lstStyle>
            <a:lvl1pPr defTabSz="586104">
              <a:defRPr sz="3905"/>
            </a:lvl1pPr>
          </a:lstStyle>
          <a:p>
            <a:pPr/>
            <a:r>
              <a:t>Comparison of linear mixed models and mixed effects ANOVA for the analysis of the classical therapy evaluation design</a:t>
            </a:r>
          </a:p>
        </p:txBody>
      </p:sp>
      <p:sp>
        <p:nvSpPr>
          <p:cNvPr id="185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Where We Ar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Where We Are</a:t>
            </a:r>
          </a:p>
        </p:txBody>
      </p:sp>
      <p:sp>
        <p:nvSpPr>
          <p:cNvPr id="18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89" name="Table 1"/>
          <p:cNvGraphicFramePr/>
          <p:nvPr/>
        </p:nvGraphicFramePr>
        <p:xfrm>
          <a:off x="2366325" y="2721826"/>
          <a:ext cx="18780132" cy="996530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383716"/>
                <a:gridCol w="9383716"/>
              </a:tblGrid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Week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Lecture title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Introduction: reproducibility and simulation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Everything is Regression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Means and Intercepts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Slopes and Change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t-tests and one-way ANOVA 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636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Mixed ANOVA (and multilevel models)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636"/>
                    </a:solidFill>
                  </a:tcPr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ANCOVA and (good and bad) controls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3200"/>
                        <a:t>Linear and logistic regression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Latent variable modelling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Power analysis and the null hypothesis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Measurement error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Missingness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710900"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200">
                          <a:latin typeface="Arial"/>
                          <a:ea typeface="Arial"/>
                          <a:cs typeface="Arial"/>
                          <a:sym typeface="Arial"/>
                        </a:rPr>
                        <a:t>Everything is Still Regression</a:t>
                      </a:r>
                    </a:p>
                  </a:txBody>
                  <a:tcPr marL="63500" marR="6350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ounded Rectangle"/>
          <p:cNvSpPr/>
          <p:nvPr/>
        </p:nvSpPr>
        <p:spPr>
          <a:xfrm>
            <a:off x="1327299" y="3758572"/>
            <a:ext cx="13364066" cy="6198856"/>
          </a:xfrm>
          <a:prstGeom prst="roundRect">
            <a:avLst>
              <a:gd name="adj" fmla="val 22662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4" name="Read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Reading</a:t>
            </a:r>
          </a:p>
        </p:txBody>
      </p:sp>
      <p:sp>
        <p:nvSpPr>
          <p:cNvPr id="195" name="Chapter 11 (‘Everything is Regression’) of the Monte Carlo Simulation textbook (Hussey &amp; Cummins, 2026)"/>
          <p:cNvSpPr txBox="1"/>
          <p:nvPr/>
        </p:nvSpPr>
        <p:spPr>
          <a:xfrm>
            <a:off x="3128911" y="5392383"/>
            <a:ext cx="9857408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rPr b="1"/>
              <a:t>Chapter 11</a:t>
            </a:r>
            <a:r>
              <a:t> (‘Everything is Regression’) of the Monte Carlo Simulation textbook (Hussey &amp; Cummins, 2026)</a:t>
            </a:r>
          </a:p>
        </p:txBody>
      </p:sp>
      <p:pic>
        <p:nvPicPr>
          <p:cNvPr id="196" name="Screenshot 2026-04-26 at 17.03.37.png" descr="Screenshot 2026-04-26 at 17.03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68563" y="1862031"/>
            <a:ext cx="6994358" cy="9991938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imulations.tidyver.se"/>
          <p:cNvSpPr txBox="1"/>
          <p:nvPr/>
        </p:nvSpPr>
        <p:spPr>
          <a:xfrm>
            <a:off x="3128911" y="8430931"/>
            <a:ext cx="9857408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 u="sng"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simulations.tidyver.se</a:t>
            </a:r>
          </a:p>
        </p:txBody>
      </p:sp>
      <p:sp>
        <p:nvSpPr>
          <p:cNvPr id="19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earning Objectiv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Learning Objectives</a:t>
            </a:r>
          </a:p>
        </p:txBody>
      </p:sp>
      <p:sp>
        <p:nvSpPr>
          <p:cNvPr id="20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2" name="Rounded Rectangle"/>
          <p:cNvSpPr/>
          <p:nvPr/>
        </p:nvSpPr>
        <p:spPr>
          <a:xfrm>
            <a:off x="1530957" y="2830928"/>
            <a:ext cx="17766101" cy="2371851"/>
          </a:xfrm>
          <a:prstGeom prst="roundRect">
            <a:avLst>
              <a:gd name="adj" fmla="val 39829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3" name="Rounded Rectangle"/>
          <p:cNvSpPr/>
          <p:nvPr/>
        </p:nvSpPr>
        <p:spPr>
          <a:xfrm>
            <a:off x="7558632" y="5387900"/>
            <a:ext cx="16715021" cy="2397251"/>
          </a:xfrm>
          <a:prstGeom prst="roundRect">
            <a:avLst>
              <a:gd name="adj" fmla="val 33128"/>
            </a:avLst>
          </a:prstGeom>
          <a:solidFill>
            <a:srgbClr val="CA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4" name="Rounded Rectangle"/>
          <p:cNvSpPr/>
          <p:nvPr/>
        </p:nvSpPr>
        <p:spPr>
          <a:xfrm>
            <a:off x="1530957" y="7970272"/>
            <a:ext cx="17766101" cy="2371850"/>
          </a:xfrm>
          <a:prstGeom prst="roundRect">
            <a:avLst>
              <a:gd name="adj" fmla="val 47304"/>
            </a:avLst>
          </a:prstGeom>
          <a:solidFill>
            <a:srgbClr val="FFF2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5" name="Describe the components of the classical therapy evaluation design: AKA a randomized controlled trial"/>
          <p:cNvSpPr txBox="1"/>
          <p:nvPr/>
        </p:nvSpPr>
        <p:spPr>
          <a:xfrm>
            <a:off x="2303665" y="3212641"/>
            <a:ext cx="16220685" cy="147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 b="1"/>
              <a:t>Describe</a:t>
            </a:r>
            <a:r>
              <a:t> the components of the classical therapy evaluation design: AKA a randomized controlled trial </a:t>
            </a:r>
          </a:p>
        </p:txBody>
      </p:sp>
      <p:sp>
        <p:nvSpPr>
          <p:cNvPr id="206" name="Contrast how mixed ANOVA vs. multilevel models handle fixed vs. random effects"/>
          <p:cNvSpPr txBox="1"/>
          <p:nvPr/>
        </p:nvSpPr>
        <p:spPr>
          <a:xfrm>
            <a:off x="3634183" y="8411669"/>
            <a:ext cx="12706434" cy="1473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b="1"/>
            </a:pPr>
            <a:r>
              <a:t>Contrast </a:t>
            </a:r>
            <a:r>
              <a:rPr b="0"/>
              <a:t>how mixed ANOVA vs. multilevel models handle fixed vs. random effects</a:t>
            </a:r>
          </a:p>
        </p:txBody>
      </p:sp>
      <p:sp>
        <p:nvSpPr>
          <p:cNvPr id="207" name="Distinguish between fixed effects and random effects, and between random intercepts and random slopes"/>
          <p:cNvSpPr txBox="1"/>
          <p:nvPr/>
        </p:nvSpPr>
        <p:spPr>
          <a:xfrm>
            <a:off x="7911092" y="5849955"/>
            <a:ext cx="16010100" cy="147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 b="1"/>
              <a:t>Distinguish</a:t>
            </a:r>
            <a:r>
              <a:t> between fixed effects and random effects, and between random intercepts and random slopes</a:t>
            </a:r>
          </a:p>
        </p:txBody>
      </p:sp>
      <p:sp>
        <p:nvSpPr>
          <p:cNvPr id="208" name="Rounded Rectangle"/>
          <p:cNvSpPr/>
          <p:nvPr/>
        </p:nvSpPr>
        <p:spPr>
          <a:xfrm>
            <a:off x="7651652" y="10540036"/>
            <a:ext cx="16689621" cy="2371851"/>
          </a:xfrm>
          <a:prstGeom prst="roundRect">
            <a:avLst>
              <a:gd name="adj" fmla="val 47304"/>
            </a:avLst>
          </a:prstGeom>
          <a:solidFill>
            <a:srgbClr val="FF4C54">
              <a:alpha val="15033"/>
            </a:srgbClr>
          </a:solidFill>
          <a:ln w="25400">
            <a:solidFill>
              <a:srgbClr val="E8D7A9">
                <a:alpha val="1503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9" name="Demonstrate how failing to model important random effects can inflate Type I error"/>
          <p:cNvSpPr txBox="1"/>
          <p:nvPr/>
        </p:nvSpPr>
        <p:spPr>
          <a:xfrm>
            <a:off x="8324613" y="10989391"/>
            <a:ext cx="15343700" cy="1473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b="1"/>
            </a:pPr>
            <a:r>
              <a:t>Demonstrate </a:t>
            </a:r>
            <a:r>
              <a:rPr b="0"/>
              <a:t>how failing to model important random effects can inflate Type I error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2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13" name="Examples Use Simulated Dat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Examples Use Simulated Data</a:t>
            </a:r>
          </a:p>
        </p:txBody>
      </p:sp>
      <p:sp>
        <p:nvSpPr>
          <p:cNvPr id="214" name="Rounded Rectangle"/>
          <p:cNvSpPr/>
          <p:nvPr/>
        </p:nvSpPr>
        <p:spPr>
          <a:xfrm>
            <a:off x="2889097" y="3505871"/>
            <a:ext cx="18605806" cy="4908015"/>
          </a:xfrm>
          <a:prstGeom prst="roundRect">
            <a:avLst>
              <a:gd name="adj" fmla="val 947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We use simulations and simulated data."/>
          <p:cNvSpPr txBox="1"/>
          <p:nvPr>
            <p:ph type="body" sz="quarter" idx="1"/>
          </p:nvPr>
        </p:nvSpPr>
        <p:spPr>
          <a:xfrm>
            <a:off x="6414946" y="6858000"/>
            <a:ext cx="11554108" cy="1020066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We use simulations and simulated data.</a:t>
            </a:r>
          </a:p>
        </p:txBody>
      </p:sp>
      <p:sp>
        <p:nvSpPr>
          <p:cNvPr id="216" name="All code, data, and plots are on the class GitHub page."/>
          <p:cNvSpPr txBox="1"/>
          <p:nvPr/>
        </p:nvSpPr>
        <p:spPr>
          <a:xfrm>
            <a:off x="4635411" y="4047611"/>
            <a:ext cx="15113178" cy="1020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All code, data, and plots are on the class GitHub page.</a:t>
            </a:r>
          </a:p>
        </p:txBody>
      </p:sp>
      <p:sp>
        <p:nvSpPr>
          <p:cNvPr id="217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8" name="English and German slides on GitHub too."/>
          <p:cNvSpPr txBox="1"/>
          <p:nvPr/>
        </p:nvSpPr>
        <p:spPr>
          <a:xfrm>
            <a:off x="6309083" y="5449845"/>
            <a:ext cx="11765834" cy="1020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English and German slides on GitHub too.</a:t>
            </a:r>
          </a:p>
        </p:txBody>
      </p:sp>
      <p:pic>
        <p:nvPicPr>
          <p:cNvPr id="2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38367" y="9163817"/>
            <a:ext cx="4575027" cy="4575027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Class GitHub"/>
          <p:cNvSpPr txBox="1"/>
          <p:nvPr/>
        </p:nvSpPr>
        <p:spPr>
          <a:xfrm>
            <a:off x="15572792" y="9889099"/>
            <a:ext cx="372679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Class GitHub</a:t>
            </a:r>
          </a:p>
        </p:txBody>
      </p:sp>
      <p:sp>
        <p:nvSpPr>
          <p:cNvPr id="222" name="Connection Line"/>
          <p:cNvSpPr/>
          <p:nvPr/>
        </p:nvSpPr>
        <p:spPr>
          <a:xfrm>
            <a:off x="17412711" y="10769850"/>
            <a:ext cx="1641441" cy="1095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488" fill="norm" stroke="1" extrusionOk="0">
                <a:moveTo>
                  <a:pt x="21600" y="16865"/>
                </a:moveTo>
                <a:cubicBezTo>
                  <a:pt x="9484" y="21600"/>
                  <a:pt x="2284" y="15978"/>
                  <a:pt x="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5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26" name="Statistical Not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Statistical Notation</a:t>
            </a:r>
          </a:p>
        </p:txBody>
      </p:sp>
      <p:sp>
        <p:nvSpPr>
          <p:cNvPr id="227" name="Rounded Rectangle"/>
          <p:cNvSpPr/>
          <p:nvPr/>
        </p:nvSpPr>
        <p:spPr>
          <a:xfrm>
            <a:off x="5167577" y="6347967"/>
            <a:ext cx="14048846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8" name="dependent variable ~ independent variable(s)"/>
          <p:cNvSpPr txBox="1"/>
          <p:nvPr/>
        </p:nvSpPr>
        <p:spPr>
          <a:xfrm>
            <a:off x="6743509" y="6497167"/>
            <a:ext cx="10837774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dependent variable ~ independent variable(s)</a:t>
            </a:r>
          </a:p>
        </p:txBody>
      </p:sp>
      <p:sp>
        <p:nvSpPr>
          <p:cNvPr id="229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608671"/>
            <a:ext cx="16592795" cy="1037418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34" name="Mean = 13.90"/>
          <p:cNvSpPr txBox="1"/>
          <p:nvPr/>
        </p:nvSpPr>
        <p:spPr>
          <a:xfrm>
            <a:off x="15831338" y="3662556"/>
            <a:ext cx="386882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Mean = 13.90</a:t>
            </a:r>
          </a:p>
        </p:txBody>
      </p:sp>
      <p:sp>
        <p:nvSpPr>
          <p:cNvPr id="235" name="A Mean Is A (Intercept-Only) Mode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 Mean Is A (Intercept-Only) Model</a:t>
            </a:r>
          </a:p>
        </p:txBody>
      </p:sp>
      <p:sp>
        <p:nvSpPr>
          <p:cNvPr id="23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591378"/>
            <a:ext cx="16592795" cy="10374181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A Mean Is A (Intercept-Only) Mode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 Mean Is A (Intercept-Only) Model</a:t>
            </a:r>
          </a:p>
        </p:txBody>
      </p:sp>
      <p:sp>
        <p:nvSpPr>
          <p:cNvPr id="240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1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42" name="Rounded Rectangle"/>
          <p:cNvSpPr/>
          <p:nvPr/>
        </p:nvSpPr>
        <p:spPr>
          <a:xfrm>
            <a:off x="17261591" y="131888"/>
            <a:ext cx="7048848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3" name="depression ~ 1"/>
          <p:cNvSpPr txBox="1"/>
          <p:nvPr/>
        </p:nvSpPr>
        <p:spPr>
          <a:xfrm>
            <a:off x="18928640" y="281088"/>
            <a:ext cx="3655543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</a:t>
            </a:r>
          </a:p>
        </p:txBody>
      </p:sp>
      <p:sp>
        <p:nvSpPr>
          <p:cNvPr id="244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5" name="Intercept = 13.90"/>
          <p:cNvSpPr txBox="1"/>
          <p:nvPr/>
        </p:nvSpPr>
        <p:spPr>
          <a:xfrm>
            <a:off x="15314919" y="3640103"/>
            <a:ext cx="4760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Intercept = 13.90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Change Is A Slope</a:t>
            </a:r>
          </a:p>
        </p:txBody>
      </p:sp>
      <p:sp>
        <p:nvSpPr>
          <p:cNvPr id="248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9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50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5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591378"/>
            <a:ext cx="16592795" cy="103741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608671"/>
            <a:ext cx="16592795" cy="10374180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Change Is A Slope</a:t>
            </a:r>
          </a:p>
        </p:txBody>
      </p:sp>
      <p:sp>
        <p:nvSpPr>
          <p:cNvPr id="255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6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57" name="Rounded Rectangle"/>
          <p:cNvSpPr/>
          <p:nvPr/>
        </p:nvSpPr>
        <p:spPr>
          <a:xfrm>
            <a:off x="16543709" y="131888"/>
            <a:ext cx="7744277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8" name="depression ~ 1 + timepoint"/>
          <p:cNvSpPr txBox="1"/>
          <p:nvPr/>
        </p:nvSpPr>
        <p:spPr>
          <a:xfrm>
            <a:off x="16994393" y="281088"/>
            <a:ext cx="650550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</a:t>
            </a:r>
          </a:p>
        </p:txBody>
      </p:sp>
      <p:sp>
        <p:nvSpPr>
          <p:cNvPr id="259" name="Mean = 13.90"/>
          <p:cNvSpPr txBox="1"/>
          <p:nvPr/>
        </p:nvSpPr>
        <p:spPr>
          <a:xfrm>
            <a:off x="8174853" y="5664882"/>
            <a:ext cx="3042209" cy="6348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Mean = 13.90</a:t>
            </a:r>
          </a:p>
        </p:txBody>
      </p:sp>
      <p:sp>
        <p:nvSpPr>
          <p:cNvPr id="260" name="Mean = 12.26"/>
          <p:cNvSpPr txBox="1"/>
          <p:nvPr/>
        </p:nvSpPr>
        <p:spPr>
          <a:xfrm>
            <a:off x="17125897" y="8059060"/>
            <a:ext cx="3042210" cy="6349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Mean = 12.26</a:t>
            </a:r>
          </a:p>
        </p:txBody>
      </p:sp>
      <p:sp>
        <p:nvSpPr>
          <p:cNvPr id="26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7914" y="2608671"/>
            <a:ext cx="16592795" cy="10374180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Mean = 13.90"/>
          <p:cNvSpPr txBox="1"/>
          <p:nvPr/>
        </p:nvSpPr>
        <p:spPr>
          <a:xfrm>
            <a:off x="8174852" y="5664882"/>
            <a:ext cx="3042210" cy="6348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Mean = 13.90</a:t>
            </a:r>
          </a:p>
        </p:txBody>
      </p:sp>
      <p:sp>
        <p:nvSpPr>
          <p:cNvPr id="265" name="Mean = 12.26"/>
          <p:cNvSpPr txBox="1"/>
          <p:nvPr/>
        </p:nvSpPr>
        <p:spPr>
          <a:xfrm>
            <a:off x="17125897" y="8059060"/>
            <a:ext cx="3042210" cy="6348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Mean = 12.26</a:t>
            </a:r>
          </a:p>
        </p:txBody>
      </p:sp>
      <p:sp>
        <p:nvSpPr>
          <p:cNvPr id="266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Change Is A Slope</a:t>
            </a:r>
          </a:p>
        </p:txBody>
      </p:sp>
      <p:sp>
        <p:nvSpPr>
          <p:cNvPr id="267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8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0" name="slope = -1.64"/>
          <p:cNvSpPr txBox="1"/>
          <p:nvPr/>
        </p:nvSpPr>
        <p:spPr>
          <a:xfrm>
            <a:off x="10041459" y="7472744"/>
            <a:ext cx="372130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slope = -1.64</a:t>
            </a:r>
          </a:p>
        </p:txBody>
      </p:sp>
      <p:sp>
        <p:nvSpPr>
          <p:cNvPr id="271" name="= difference in means"/>
          <p:cNvSpPr txBox="1"/>
          <p:nvPr/>
        </p:nvSpPr>
        <p:spPr>
          <a:xfrm>
            <a:off x="10381007" y="8463540"/>
            <a:ext cx="3042209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= difference in means</a:t>
            </a:r>
          </a:p>
        </p:txBody>
      </p:sp>
      <p:sp>
        <p:nvSpPr>
          <p:cNvPr id="272" name="Rounded Rectangle"/>
          <p:cNvSpPr/>
          <p:nvPr/>
        </p:nvSpPr>
        <p:spPr>
          <a:xfrm>
            <a:off x="16543709" y="131888"/>
            <a:ext cx="7744278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3" name="depression ~ 1 + timepoint"/>
          <p:cNvSpPr txBox="1"/>
          <p:nvPr/>
        </p:nvSpPr>
        <p:spPr>
          <a:xfrm>
            <a:off x="16994393" y="281088"/>
            <a:ext cx="650550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pasted-movie.png" descr="pasted-movie.png"/>
          <p:cNvPicPr>
            <a:picLocks noChangeAspect="1"/>
          </p:cNvPicPr>
          <p:nvPr/>
        </p:nvPicPr>
        <p:blipFill>
          <a:blip r:embed="rId2">
            <a:alphaModFix amt="29577"/>
            <a:extLst/>
          </a:blip>
          <a:stretch>
            <a:fillRect/>
          </a:stretch>
        </p:blipFill>
        <p:spPr>
          <a:xfrm>
            <a:off x="3427914" y="2608671"/>
            <a:ext cx="16592795" cy="10374180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Mean = 13.90"/>
          <p:cNvSpPr txBox="1"/>
          <p:nvPr/>
        </p:nvSpPr>
        <p:spPr>
          <a:xfrm>
            <a:off x="8174852" y="5664882"/>
            <a:ext cx="3042210" cy="634899"/>
          </a:xfrm>
          <a:prstGeom prst="rect">
            <a:avLst/>
          </a:prstGeom>
          <a:solidFill>
            <a:srgbClr val="FFFFFF">
              <a:alpha val="29767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Mean = 13.90</a:t>
            </a:r>
          </a:p>
        </p:txBody>
      </p:sp>
      <p:sp>
        <p:nvSpPr>
          <p:cNvPr id="277" name="Mean = 12.26"/>
          <p:cNvSpPr txBox="1"/>
          <p:nvPr/>
        </p:nvSpPr>
        <p:spPr>
          <a:xfrm>
            <a:off x="17125897" y="8059060"/>
            <a:ext cx="3042210" cy="634899"/>
          </a:xfrm>
          <a:prstGeom prst="rect">
            <a:avLst/>
          </a:prstGeom>
          <a:solidFill>
            <a:srgbClr val="FFFFFF">
              <a:alpha val="29767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Mean = 12.26</a:t>
            </a:r>
          </a:p>
        </p:txBody>
      </p:sp>
      <p:sp>
        <p:nvSpPr>
          <p:cNvPr id="278" name="Change Is A Slop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Change Is A Slope</a:t>
            </a:r>
          </a:p>
        </p:txBody>
      </p:sp>
      <p:sp>
        <p:nvSpPr>
          <p:cNvPr id="279" name="Rounded Rectangle"/>
          <p:cNvSpPr/>
          <p:nvPr/>
        </p:nvSpPr>
        <p:spPr>
          <a:xfrm>
            <a:off x="1037108" y="131888"/>
            <a:ext cx="5145146" cy="1020067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0" name="Reminder"/>
          <p:cNvSpPr txBox="1"/>
          <p:nvPr/>
        </p:nvSpPr>
        <p:spPr>
          <a:xfrm>
            <a:off x="2377273" y="287339"/>
            <a:ext cx="246481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Reminder</a:t>
            </a:r>
          </a:p>
        </p:txBody>
      </p:sp>
      <p:sp>
        <p:nvSpPr>
          <p:cNvPr id="28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2" name="slope = -1.64"/>
          <p:cNvSpPr txBox="1"/>
          <p:nvPr/>
        </p:nvSpPr>
        <p:spPr>
          <a:xfrm>
            <a:off x="11889882" y="5420944"/>
            <a:ext cx="372130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slope = -1.64</a:t>
            </a:r>
          </a:p>
        </p:txBody>
      </p:sp>
      <p:sp>
        <p:nvSpPr>
          <p:cNvPr id="283" name="= difference in means"/>
          <p:cNvSpPr txBox="1"/>
          <p:nvPr/>
        </p:nvSpPr>
        <p:spPr>
          <a:xfrm>
            <a:off x="12144695" y="6290521"/>
            <a:ext cx="304221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= difference in means</a:t>
            </a:r>
          </a:p>
        </p:txBody>
      </p:sp>
      <p:sp>
        <p:nvSpPr>
          <p:cNvPr id="284" name="Rounded Rectangle"/>
          <p:cNvSpPr/>
          <p:nvPr/>
        </p:nvSpPr>
        <p:spPr>
          <a:xfrm>
            <a:off x="16543709" y="131888"/>
            <a:ext cx="7744278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depression ~ 1 + timepoint"/>
          <p:cNvSpPr txBox="1"/>
          <p:nvPr/>
        </p:nvSpPr>
        <p:spPr>
          <a:xfrm>
            <a:off x="16994393" y="281088"/>
            <a:ext cx="650550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</a:t>
            </a:r>
          </a:p>
        </p:txBody>
      </p:sp>
      <p:pic>
        <p:nvPicPr>
          <p:cNvPr id="286" name="Screenshot 2026-05-01 at 13.19.23.png" descr="Screenshot 2026-05-01 at 13.19.2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01609" y="9139798"/>
            <a:ext cx="15780782" cy="3602616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Line"/>
          <p:cNvSpPr/>
          <p:nvPr/>
        </p:nvSpPr>
        <p:spPr>
          <a:xfrm>
            <a:off x="5374461" y="12650496"/>
            <a:ext cx="1913881" cy="1"/>
          </a:xfrm>
          <a:prstGeom prst="line">
            <a:avLst/>
          </a:prstGeom>
          <a:ln w="254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8" name="Line"/>
          <p:cNvSpPr/>
          <p:nvPr/>
        </p:nvSpPr>
        <p:spPr>
          <a:xfrm>
            <a:off x="10161113" y="10107068"/>
            <a:ext cx="1913881" cy="1"/>
          </a:xfrm>
          <a:prstGeom prst="line">
            <a:avLst/>
          </a:prstGeom>
          <a:ln w="254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Evaluating Change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Evaluating Change</a:t>
            </a:r>
          </a:p>
        </p:txBody>
      </p:sp>
      <p:sp>
        <p:nvSpPr>
          <p:cNvPr id="291" name="Rounded Rectangle"/>
          <p:cNvSpPr/>
          <p:nvPr/>
        </p:nvSpPr>
        <p:spPr>
          <a:xfrm>
            <a:off x="17467753" y="3239526"/>
            <a:ext cx="6039696" cy="7771940"/>
          </a:xfrm>
          <a:prstGeom prst="roundRect">
            <a:avLst>
              <a:gd name="adj" fmla="val 637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Suppose these data are from a new therapy."/>
          <p:cNvSpPr txBox="1"/>
          <p:nvPr/>
        </p:nvSpPr>
        <p:spPr>
          <a:xfrm>
            <a:off x="18641059" y="3530284"/>
            <a:ext cx="3693084" cy="17971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Suppose these data are from a new therapy.</a:t>
            </a:r>
          </a:p>
        </p:txBody>
      </p:sp>
      <p:sp>
        <p:nvSpPr>
          <p:cNvPr id="293" name="Can we conclude, from these data, that our therapy is effective in reducing depression scores?"/>
          <p:cNvSpPr txBox="1"/>
          <p:nvPr/>
        </p:nvSpPr>
        <p:spPr>
          <a:xfrm>
            <a:off x="17783634" y="6067892"/>
            <a:ext cx="5407934" cy="289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Can we conclude, from these data, that our therapy is effective in reducing depression scores?</a:t>
            </a:r>
          </a:p>
        </p:txBody>
      </p:sp>
      <p:sp>
        <p:nvSpPr>
          <p:cNvPr id="29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9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7843" y="2938264"/>
            <a:ext cx="15538472" cy="9714994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Why/why not?"/>
          <p:cNvSpPr txBox="1"/>
          <p:nvPr/>
        </p:nvSpPr>
        <p:spPr>
          <a:xfrm>
            <a:off x="18214276" y="9705624"/>
            <a:ext cx="4546650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Why/why not?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Evaluating Change: Counterfactual Think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Evaluating Change: Counterfactual Thinking</a:t>
            </a:r>
          </a:p>
        </p:txBody>
      </p:sp>
      <p:sp>
        <p:nvSpPr>
          <p:cNvPr id="299" name="Rounded Rectangle"/>
          <p:cNvSpPr/>
          <p:nvPr/>
        </p:nvSpPr>
        <p:spPr>
          <a:xfrm>
            <a:off x="4711496" y="2821223"/>
            <a:ext cx="14961008" cy="3448228"/>
          </a:xfrm>
          <a:prstGeom prst="roundRect">
            <a:avLst>
              <a:gd name="adj" fmla="val 113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We cannot infer change based on simple pre-post differences.…"/>
          <p:cNvSpPr txBox="1"/>
          <p:nvPr/>
        </p:nvSpPr>
        <p:spPr>
          <a:xfrm>
            <a:off x="5309750" y="3068783"/>
            <a:ext cx="13764500" cy="295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We cannot infer change based on simple </a:t>
            </a:r>
            <a:r>
              <a:rPr b="1"/>
              <a:t>pre-post differences. </a:t>
            </a:r>
          </a:p>
          <a:p>
            <a:pPr algn="ctr">
              <a:defRPr sz="4000"/>
            </a:pPr>
            <a:r>
              <a:t>This is because we do not know the </a:t>
            </a:r>
            <a:r>
              <a:rPr b="1"/>
              <a:t>counterfactual</a:t>
            </a:r>
            <a:r>
              <a:t>: what would have happened </a:t>
            </a:r>
            <a:r>
              <a:rPr i="1"/>
              <a:t>without </a:t>
            </a:r>
            <a:r>
              <a:t>the intervention?</a:t>
            </a:r>
          </a:p>
        </p:txBody>
      </p:sp>
      <p:sp>
        <p:nvSpPr>
          <p:cNvPr id="30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Evaluating Change: Counterfactual Think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Evaluating Change: Counterfactual Thinking</a:t>
            </a:r>
          </a:p>
        </p:txBody>
      </p:sp>
      <p:sp>
        <p:nvSpPr>
          <p:cNvPr id="304" name="Rounded Rectangle"/>
          <p:cNvSpPr/>
          <p:nvPr/>
        </p:nvSpPr>
        <p:spPr>
          <a:xfrm>
            <a:off x="4711496" y="2821223"/>
            <a:ext cx="14961008" cy="3448228"/>
          </a:xfrm>
          <a:prstGeom prst="roundRect">
            <a:avLst>
              <a:gd name="adj" fmla="val 113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5" name="We cannot infer change based on simple pre-post differences.…"/>
          <p:cNvSpPr txBox="1"/>
          <p:nvPr/>
        </p:nvSpPr>
        <p:spPr>
          <a:xfrm>
            <a:off x="5309750" y="3068783"/>
            <a:ext cx="13764500" cy="295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We cannot infer change based on simple </a:t>
            </a:r>
            <a:r>
              <a:rPr b="1"/>
              <a:t>pre-post differences. </a:t>
            </a:r>
          </a:p>
          <a:p>
            <a:pPr algn="ctr">
              <a:defRPr sz="4000"/>
            </a:pPr>
            <a:r>
              <a:t>This is because we do not know the </a:t>
            </a:r>
            <a:r>
              <a:rPr b="1"/>
              <a:t>counterfactual</a:t>
            </a:r>
            <a:r>
              <a:t>: what would have happened </a:t>
            </a:r>
            <a:r>
              <a:rPr i="1"/>
              <a:t>without </a:t>
            </a:r>
            <a:r>
              <a:t>the intervention?</a:t>
            </a:r>
          </a:p>
        </p:txBody>
      </p:sp>
      <p:sp>
        <p:nvSpPr>
          <p:cNvPr id="30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7" name="Schleider, J.L., Mullarkey, M.C., Fox, K.R. et al. A randomized trial of online single-session interventions for adolescent depression during COVID-19. Nat Hum Behav 6, 258–268 (2022). https://doi.org/10.1038/s41562-021-01235-0"/>
          <p:cNvSpPr txBox="1"/>
          <p:nvPr/>
        </p:nvSpPr>
        <p:spPr>
          <a:xfrm>
            <a:off x="13585421" y="12976199"/>
            <a:ext cx="1075786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Schleider, J.L., Mullarkey, M.C., Fox, K.R. </a:t>
            </a:r>
            <a:r>
              <a:rPr i="1"/>
              <a:t>et al.</a:t>
            </a:r>
            <a:r>
              <a:t> A randomized trial of online single-session interventions for adolescent depression during COVID-19. </a:t>
            </a:r>
            <a:r>
              <a:rPr i="1"/>
              <a:t>Nat Hum Behav</a:t>
            </a:r>
            <a:r>
              <a:t> </a:t>
            </a:r>
            <a:r>
              <a:rPr b="1"/>
              <a:t>6</a:t>
            </a:r>
            <a:r>
              <a:t>, 258–268 (2022). https://doi.org/10.1038/s41562-021-01235-0</a:t>
            </a:r>
          </a:p>
        </p:txBody>
      </p:sp>
      <p:pic>
        <p:nvPicPr>
          <p:cNvPr id="30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89932" y="6889794"/>
            <a:ext cx="9254179" cy="5785917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Rounded Rectangle"/>
          <p:cNvSpPr/>
          <p:nvPr/>
        </p:nvSpPr>
        <p:spPr>
          <a:xfrm>
            <a:off x="15448631" y="7378100"/>
            <a:ext cx="7362541" cy="4502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75" y="21600"/>
                </a:moveTo>
                <a:lnTo>
                  <a:pt x="18325" y="21600"/>
                </a:lnTo>
                <a:cubicBezTo>
                  <a:pt x="19286" y="21600"/>
                  <a:pt x="19863" y="21600"/>
                  <a:pt x="20247" y="21338"/>
                </a:cubicBezTo>
                <a:cubicBezTo>
                  <a:pt x="20801" y="21008"/>
                  <a:pt x="21238" y="20294"/>
                  <a:pt x="21440" y="19388"/>
                </a:cubicBezTo>
                <a:cubicBezTo>
                  <a:pt x="21600" y="18759"/>
                  <a:pt x="21600" y="17816"/>
                  <a:pt x="21600" y="16245"/>
                </a:cubicBezTo>
                <a:lnTo>
                  <a:pt x="21600" y="5355"/>
                </a:lnTo>
                <a:cubicBezTo>
                  <a:pt x="21600" y="3784"/>
                  <a:pt x="21600" y="2841"/>
                  <a:pt x="21440" y="2212"/>
                </a:cubicBezTo>
                <a:cubicBezTo>
                  <a:pt x="21238" y="1306"/>
                  <a:pt x="20801" y="592"/>
                  <a:pt x="20247" y="262"/>
                </a:cubicBezTo>
                <a:cubicBezTo>
                  <a:pt x="19863" y="0"/>
                  <a:pt x="19286" y="0"/>
                  <a:pt x="18325" y="0"/>
                </a:cubicBezTo>
                <a:lnTo>
                  <a:pt x="3275" y="0"/>
                </a:lnTo>
                <a:cubicBezTo>
                  <a:pt x="2314" y="0"/>
                  <a:pt x="1737" y="0"/>
                  <a:pt x="1353" y="262"/>
                </a:cubicBezTo>
                <a:cubicBezTo>
                  <a:pt x="799" y="592"/>
                  <a:pt x="362" y="1306"/>
                  <a:pt x="160" y="2212"/>
                </a:cubicBezTo>
                <a:cubicBezTo>
                  <a:pt x="0" y="2841"/>
                  <a:pt x="0" y="3784"/>
                  <a:pt x="0" y="5355"/>
                </a:cubicBezTo>
                <a:lnTo>
                  <a:pt x="0" y="16245"/>
                </a:lnTo>
                <a:cubicBezTo>
                  <a:pt x="0" y="17816"/>
                  <a:pt x="0" y="18759"/>
                  <a:pt x="160" y="19388"/>
                </a:cubicBezTo>
                <a:cubicBezTo>
                  <a:pt x="362" y="20294"/>
                  <a:pt x="799" y="21008"/>
                  <a:pt x="1353" y="21338"/>
                </a:cubicBezTo>
                <a:cubicBezTo>
                  <a:pt x="1737" y="21600"/>
                  <a:pt x="2314" y="21600"/>
                  <a:pt x="3275" y="21600"/>
                </a:cubicBezTo>
                <a:close/>
              </a:path>
            </a:pathLst>
          </a:custGeom>
          <a:solidFill>
            <a:srgbClr val="CA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0" name="The data we saw previously are from a real paper where no intervention was administered!"/>
          <p:cNvSpPr txBox="1"/>
          <p:nvPr/>
        </p:nvSpPr>
        <p:spPr>
          <a:xfrm>
            <a:off x="15908568" y="8455593"/>
            <a:ext cx="6442667" cy="2347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The data we saw previously are from a real paper where no intervention was administered!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Evaluating Change: Counterfactual Think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Evaluating Change: Counterfactual Thinking</a:t>
            </a:r>
          </a:p>
        </p:txBody>
      </p:sp>
      <p:sp>
        <p:nvSpPr>
          <p:cNvPr id="313" name="Rounded Rectangle"/>
          <p:cNvSpPr/>
          <p:nvPr/>
        </p:nvSpPr>
        <p:spPr>
          <a:xfrm>
            <a:off x="6311390" y="3217073"/>
            <a:ext cx="11761220" cy="5112260"/>
          </a:xfrm>
          <a:prstGeom prst="roundRect">
            <a:avLst>
              <a:gd name="adj" fmla="val 7452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4" name="To evaluate a therapy we need:"/>
          <p:cNvSpPr txBox="1"/>
          <p:nvPr/>
        </p:nvSpPr>
        <p:spPr>
          <a:xfrm>
            <a:off x="8279734" y="3717372"/>
            <a:ext cx="7824532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To evaluate a therapy we need:</a:t>
            </a:r>
          </a:p>
        </p:txBody>
      </p:sp>
      <p:sp>
        <p:nvSpPr>
          <p:cNvPr id="315" name="Randomized Controlled Trial"/>
          <p:cNvSpPr txBox="1"/>
          <p:nvPr/>
        </p:nvSpPr>
        <p:spPr>
          <a:xfrm>
            <a:off x="5086446" y="9564678"/>
            <a:ext cx="14211108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Randomized Controlled Trial</a:t>
            </a:r>
          </a:p>
        </p:txBody>
      </p:sp>
      <p:sp>
        <p:nvSpPr>
          <p:cNvPr id="31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7" name="- A counterfactual comparison (AKA a control group)"/>
          <p:cNvSpPr txBox="1"/>
          <p:nvPr/>
        </p:nvSpPr>
        <p:spPr>
          <a:xfrm>
            <a:off x="7530480" y="5149684"/>
            <a:ext cx="9441062" cy="12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- A counterfactual comparison (AKA a control group)</a:t>
            </a:r>
          </a:p>
        </p:txBody>
      </p:sp>
      <p:sp>
        <p:nvSpPr>
          <p:cNvPr id="318" name="- Randomization of participants to each treatment"/>
          <p:cNvSpPr txBox="1"/>
          <p:nvPr/>
        </p:nvSpPr>
        <p:spPr>
          <a:xfrm>
            <a:off x="7530480" y="6705994"/>
            <a:ext cx="9441062" cy="12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- Randomization of participants to each treatment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andomized Controlled Tria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Randomized Controlled Trial</a:t>
            </a:r>
          </a:p>
        </p:txBody>
      </p:sp>
      <p:sp>
        <p:nvSpPr>
          <p:cNvPr id="323" name="Rounded Rectangle"/>
          <p:cNvSpPr/>
          <p:nvPr/>
        </p:nvSpPr>
        <p:spPr>
          <a:xfrm>
            <a:off x="175844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4" name="Baseline (T1)"/>
          <p:cNvSpPr txBox="1"/>
          <p:nvPr/>
        </p:nvSpPr>
        <p:spPr>
          <a:xfrm>
            <a:off x="3096975" y="5645372"/>
            <a:ext cx="3021077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Baseline (T1)</a:t>
            </a:r>
          </a:p>
        </p:txBody>
      </p:sp>
      <p:sp>
        <p:nvSpPr>
          <p:cNvPr id="325" name="Rounded Rectangle"/>
          <p:cNvSpPr/>
          <p:nvPr/>
        </p:nvSpPr>
        <p:spPr>
          <a:xfrm>
            <a:off x="1674519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6" name="Post-Treatment (T2)"/>
          <p:cNvSpPr txBox="1"/>
          <p:nvPr/>
        </p:nvSpPr>
        <p:spPr>
          <a:xfrm>
            <a:off x="17302167" y="5645372"/>
            <a:ext cx="4584193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Post-Treatment (T2)</a:t>
            </a:r>
          </a:p>
        </p:txBody>
      </p:sp>
      <p:sp>
        <p:nvSpPr>
          <p:cNvPr id="327" name="Line"/>
          <p:cNvSpPr/>
          <p:nvPr/>
        </p:nvSpPr>
        <p:spPr>
          <a:xfrm flipV="1">
            <a:off x="7463943" y="4583868"/>
            <a:ext cx="1789260" cy="140999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8" name="Line"/>
          <p:cNvSpPr/>
          <p:nvPr/>
        </p:nvSpPr>
        <p:spPr>
          <a:xfrm>
            <a:off x="7480467" y="5993860"/>
            <a:ext cx="1756504" cy="140845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86015" y="5084740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Rounded Rectangle"/>
          <p:cNvSpPr/>
          <p:nvPr/>
        </p:nvSpPr>
        <p:spPr>
          <a:xfrm>
            <a:off x="9619427" y="3930154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1" name="Rounded Rectangle"/>
          <p:cNvSpPr/>
          <p:nvPr/>
        </p:nvSpPr>
        <p:spPr>
          <a:xfrm>
            <a:off x="9619427" y="6891987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2" name="Control"/>
          <p:cNvSpPr txBox="1"/>
          <p:nvPr/>
        </p:nvSpPr>
        <p:spPr>
          <a:xfrm>
            <a:off x="10920372" y="4091699"/>
            <a:ext cx="1779525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Control</a:t>
            </a:r>
          </a:p>
        </p:txBody>
      </p:sp>
      <p:sp>
        <p:nvSpPr>
          <p:cNvPr id="333" name="Intervention"/>
          <p:cNvSpPr txBox="1"/>
          <p:nvPr/>
        </p:nvSpPr>
        <p:spPr>
          <a:xfrm>
            <a:off x="10416944" y="7053533"/>
            <a:ext cx="27863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Intervention</a:t>
            </a:r>
          </a:p>
        </p:txBody>
      </p:sp>
      <p:sp>
        <p:nvSpPr>
          <p:cNvPr id="334" name="Line"/>
          <p:cNvSpPr/>
          <p:nvPr/>
        </p:nvSpPr>
        <p:spPr>
          <a:xfrm>
            <a:off x="14382450" y="4437332"/>
            <a:ext cx="2173152" cy="120371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5" name="Line"/>
          <p:cNvSpPr/>
          <p:nvPr/>
        </p:nvSpPr>
        <p:spPr>
          <a:xfrm flipV="1">
            <a:off x="14395826" y="6178105"/>
            <a:ext cx="2147757" cy="133281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6" name="Rounded Rectangle"/>
          <p:cNvSpPr/>
          <p:nvPr/>
        </p:nvSpPr>
        <p:spPr>
          <a:xfrm>
            <a:off x="4796594" y="10101078"/>
            <a:ext cx="14790812" cy="2700505"/>
          </a:xfrm>
          <a:prstGeom prst="roundRect">
            <a:avLst>
              <a:gd name="adj" fmla="val 14886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Do scores in our outcome (for example, depression scores), from baseline to post-treatment, change more in the intervention compared to the control?"/>
          <p:cNvSpPr txBox="1"/>
          <p:nvPr/>
        </p:nvSpPr>
        <p:spPr>
          <a:xfrm>
            <a:off x="5776878" y="10547039"/>
            <a:ext cx="12830244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Do scores in our outcome (for example, depression scores), from baseline to post-treatment, </a:t>
            </a:r>
            <a:r>
              <a:rPr b="1"/>
              <a:t>change more</a:t>
            </a:r>
            <a:r>
              <a:t> in the intervention compared to the control?</a:t>
            </a:r>
          </a:p>
        </p:txBody>
      </p:sp>
      <p:sp>
        <p:nvSpPr>
          <p:cNvPr id="33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andomized Controlled Tria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Randomized Controlled Trial</a:t>
            </a:r>
          </a:p>
        </p:txBody>
      </p:sp>
      <p:sp>
        <p:nvSpPr>
          <p:cNvPr id="34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2" name="Rounded Rectangle"/>
          <p:cNvSpPr/>
          <p:nvPr/>
        </p:nvSpPr>
        <p:spPr>
          <a:xfrm>
            <a:off x="17284094" y="3503615"/>
            <a:ext cx="6290715" cy="7330685"/>
          </a:xfrm>
          <a:prstGeom prst="roundRect">
            <a:avLst>
              <a:gd name="adj" fmla="val 553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3" name="If the slope is the change,"/>
          <p:cNvSpPr txBox="1"/>
          <p:nvPr/>
        </p:nvSpPr>
        <p:spPr>
          <a:xfrm>
            <a:off x="17454338" y="4324516"/>
            <a:ext cx="5950228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If the slope is the change,</a:t>
            </a:r>
          </a:p>
        </p:txBody>
      </p:sp>
      <p:sp>
        <p:nvSpPr>
          <p:cNvPr id="344" name="and we want to compare changes,"/>
          <p:cNvSpPr txBox="1"/>
          <p:nvPr/>
        </p:nvSpPr>
        <p:spPr>
          <a:xfrm>
            <a:off x="17001418" y="6154527"/>
            <a:ext cx="6856068" cy="12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and we want to compare changes, </a:t>
            </a:r>
          </a:p>
        </p:txBody>
      </p:sp>
      <p:sp>
        <p:nvSpPr>
          <p:cNvPr id="345" name="then: we can compare the slopes to assess change!"/>
          <p:cNvSpPr txBox="1"/>
          <p:nvPr/>
        </p:nvSpPr>
        <p:spPr>
          <a:xfrm>
            <a:off x="17337950" y="8534600"/>
            <a:ext cx="6183003" cy="1820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then: we can </a:t>
            </a:r>
            <a:r>
              <a:rPr b="1"/>
              <a:t>compare the slopes</a:t>
            </a:r>
            <a:r>
              <a:t> to assess change! </a:t>
            </a:r>
          </a:p>
        </p:txBody>
      </p:sp>
      <p:pic>
        <p:nvPicPr>
          <p:cNvPr id="34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5465" y="3525159"/>
            <a:ext cx="13802513" cy="90678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Analyzing RCT data: Mixed ANOVA</a:t>
            </a:r>
          </a:p>
        </p:txBody>
      </p:sp>
      <p:sp>
        <p:nvSpPr>
          <p:cNvPr id="349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0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Most common approach to analysing RCT data: </a:t>
            </a:r>
            <a:r>
              <a:rPr b="1"/>
              <a:t>mixed ANOVA</a:t>
            </a:r>
          </a:p>
        </p:txBody>
      </p:sp>
      <p:sp>
        <p:nvSpPr>
          <p:cNvPr id="35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Analyzing RCT data: Mixed ANOVA</a:t>
            </a:r>
          </a:p>
        </p:txBody>
      </p:sp>
      <p:sp>
        <p:nvSpPr>
          <p:cNvPr id="354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5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Most common approach to analysing RCT data: </a:t>
            </a:r>
            <a:r>
              <a:rPr b="1"/>
              <a:t>mixed ANOVA</a:t>
            </a:r>
          </a:p>
        </p:txBody>
      </p:sp>
      <p:sp>
        <p:nvSpPr>
          <p:cNvPr id="356" name="Rounded Rectangle"/>
          <p:cNvSpPr/>
          <p:nvPr/>
        </p:nvSpPr>
        <p:spPr>
          <a:xfrm>
            <a:off x="14875290" y="5158593"/>
            <a:ext cx="8343106" cy="7498965"/>
          </a:xfrm>
          <a:prstGeom prst="roundRect">
            <a:avLst>
              <a:gd name="adj" fmla="val 674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7" name="“Mixed” because there are between and within subject factors:"/>
          <p:cNvSpPr txBox="1"/>
          <p:nvPr/>
        </p:nvSpPr>
        <p:spPr>
          <a:xfrm>
            <a:off x="15606918" y="6133332"/>
            <a:ext cx="6879850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“Mixed” because there are </a:t>
            </a:r>
            <a:r>
              <a:rPr b="1"/>
              <a:t>between </a:t>
            </a:r>
            <a:r>
              <a:rPr i="1"/>
              <a:t>and</a:t>
            </a:r>
            <a:r>
              <a:t> </a:t>
            </a:r>
            <a:r>
              <a:rPr b="1"/>
              <a:t>within </a:t>
            </a:r>
            <a:r>
              <a:t>subject factors:</a:t>
            </a:r>
          </a:p>
        </p:txBody>
      </p:sp>
      <p:sp>
        <p:nvSpPr>
          <p:cNvPr id="358" name="Between: intervention condition"/>
          <p:cNvSpPr txBox="1"/>
          <p:nvPr/>
        </p:nvSpPr>
        <p:spPr>
          <a:xfrm>
            <a:off x="15564341" y="8921711"/>
            <a:ext cx="765158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rPr b="1"/>
              <a:t>Between:</a:t>
            </a:r>
            <a:r>
              <a:t> intervention condition</a:t>
            </a:r>
          </a:p>
        </p:txBody>
      </p:sp>
      <p:sp>
        <p:nvSpPr>
          <p:cNvPr id="359" name="Within: different timepoints"/>
          <p:cNvSpPr txBox="1"/>
          <p:nvPr/>
        </p:nvSpPr>
        <p:spPr>
          <a:xfrm>
            <a:off x="15564341" y="9991439"/>
            <a:ext cx="7483715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rPr b="1"/>
              <a:t>Within:</a:t>
            </a:r>
            <a:r>
              <a:t> different timepoints</a:t>
            </a:r>
          </a:p>
        </p:txBody>
      </p:sp>
      <p:sp>
        <p:nvSpPr>
          <p:cNvPr id="36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6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217" y="4792300"/>
            <a:ext cx="12529589" cy="82315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ounded Rectangle"/>
          <p:cNvSpPr/>
          <p:nvPr/>
        </p:nvSpPr>
        <p:spPr>
          <a:xfrm>
            <a:off x="14516041" y="4978968"/>
            <a:ext cx="9387698" cy="7498965"/>
          </a:xfrm>
          <a:prstGeom prst="roundRect">
            <a:avLst>
              <a:gd name="adj" fmla="val 674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4" name="depression ~ timepoint * treatment + Error(participant / timepoint)"/>
          <p:cNvSpPr txBox="1"/>
          <p:nvPr/>
        </p:nvSpPr>
        <p:spPr>
          <a:xfrm>
            <a:off x="14862590" y="6493066"/>
            <a:ext cx="8694600" cy="1175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depression ~ timepoint * treatment + Error(participant / timepoint)</a:t>
            </a:r>
          </a:p>
        </p:txBody>
      </p:sp>
      <p:sp>
        <p:nvSpPr>
          <p:cNvPr id="365" name="Standard mixed ANOVA formula:"/>
          <p:cNvSpPr txBox="1"/>
          <p:nvPr/>
        </p:nvSpPr>
        <p:spPr>
          <a:xfrm>
            <a:off x="15026890" y="5281231"/>
            <a:ext cx="8365999" cy="73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200"/>
            </a:lvl1pPr>
          </a:lstStyle>
          <a:p>
            <a:pPr/>
            <a:r>
              <a:t>Standard mixed ANOVA formula:</a:t>
            </a:r>
          </a:p>
        </p:txBody>
      </p:sp>
      <p:sp>
        <p:nvSpPr>
          <p:cNvPr id="366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Analyzing RCT data: Mixed ANOVA</a:t>
            </a:r>
          </a:p>
        </p:txBody>
      </p:sp>
      <p:sp>
        <p:nvSpPr>
          <p:cNvPr id="36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8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9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Most common approach to analysing RCT data: </a:t>
            </a:r>
            <a:r>
              <a:rPr b="1"/>
              <a:t>mixed ANOVA</a:t>
            </a:r>
          </a:p>
        </p:txBody>
      </p:sp>
      <p:pic>
        <p:nvPicPr>
          <p:cNvPr id="37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217" y="4792300"/>
            <a:ext cx="12529589" cy="8231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ounded Rectangle"/>
          <p:cNvSpPr/>
          <p:nvPr/>
        </p:nvSpPr>
        <p:spPr>
          <a:xfrm>
            <a:off x="14516041" y="4978968"/>
            <a:ext cx="9288676" cy="7498965"/>
          </a:xfrm>
          <a:prstGeom prst="roundRect">
            <a:avLst>
              <a:gd name="adj" fmla="val 6741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373" name="Screenshot 2026-05-04 at 16.43.06.png" descr="Screenshot 2026-05-04 at 16.43.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889812" y="8785768"/>
            <a:ext cx="8541133" cy="3009573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Analyzing RCT data: Mixed ANOVA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Analyzing RCT data: Mixed ANOVA</a:t>
            </a:r>
          </a:p>
        </p:txBody>
      </p:sp>
      <p:sp>
        <p:nvSpPr>
          <p:cNvPr id="37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6" name="Rounded Rectangle"/>
          <p:cNvSpPr/>
          <p:nvPr/>
        </p:nvSpPr>
        <p:spPr>
          <a:xfrm>
            <a:off x="3716180" y="2764788"/>
            <a:ext cx="16951640" cy="1407764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7" name="Most common approach to analysing RCT data: mixed ANOVA"/>
          <p:cNvSpPr txBox="1"/>
          <p:nvPr/>
        </p:nvSpPr>
        <p:spPr>
          <a:xfrm>
            <a:off x="4908270" y="3114088"/>
            <a:ext cx="1456745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Most common approach to analysing RCT data: </a:t>
            </a:r>
            <a:r>
              <a:rPr b="1"/>
              <a:t>mixed ANOVA</a:t>
            </a:r>
          </a:p>
        </p:txBody>
      </p:sp>
      <p:sp>
        <p:nvSpPr>
          <p:cNvPr id="378" name="depression ~ timepoint * treatment + Error(participant / timepoint)"/>
          <p:cNvSpPr txBox="1"/>
          <p:nvPr/>
        </p:nvSpPr>
        <p:spPr>
          <a:xfrm>
            <a:off x="14862590" y="6493066"/>
            <a:ext cx="8694600" cy="1175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depression ~ timepoint * treatment + Error(participant / timepoint)</a:t>
            </a:r>
          </a:p>
        </p:txBody>
      </p:sp>
      <p:sp>
        <p:nvSpPr>
          <p:cNvPr id="379" name="Standard mixed ANOVA formula:"/>
          <p:cNvSpPr txBox="1"/>
          <p:nvPr/>
        </p:nvSpPr>
        <p:spPr>
          <a:xfrm>
            <a:off x="15026890" y="5281231"/>
            <a:ext cx="8365999" cy="73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200"/>
            </a:lvl1pPr>
          </a:lstStyle>
          <a:p>
            <a:pPr/>
            <a:r>
              <a:t>Standard mixed ANOVA formula:</a:t>
            </a:r>
          </a:p>
        </p:txBody>
      </p:sp>
      <p:sp>
        <p:nvSpPr>
          <p:cNvPr id="380" name="Line"/>
          <p:cNvSpPr/>
          <p:nvPr/>
        </p:nvSpPr>
        <p:spPr>
          <a:xfrm>
            <a:off x="15026890" y="11125745"/>
            <a:ext cx="6844664" cy="1"/>
          </a:xfrm>
          <a:prstGeom prst="line">
            <a:avLst/>
          </a:prstGeom>
          <a:ln w="508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8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78217" y="4792300"/>
            <a:ext cx="12529589" cy="8231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4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t>What information might the mixed ANOVA be missing?</a:t>
            </a:r>
          </a:p>
        </p:txBody>
      </p:sp>
      <p:sp>
        <p:nvSpPr>
          <p:cNvPr id="38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6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7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Clients might come from clusters of clinics</a:t>
            </a:r>
          </a:p>
        </p:txBody>
      </p:sp>
      <p:pic>
        <p:nvPicPr>
          <p:cNvPr id="38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84424" y="4181096"/>
            <a:ext cx="3139094" cy="3139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20410"/>
          <a:stretch>
            <a:fillRect/>
          </a:stretch>
        </p:blipFill>
        <p:spPr>
          <a:xfrm>
            <a:off x="18837196" y="4961744"/>
            <a:ext cx="3139093" cy="2498393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Clinic 1"/>
          <p:cNvSpPr txBox="1"/>
          <p:nvPr/>
        </p:nvSpPr>
        <p:spPr>
          <a:xfrm>
            <a:off x="13625143" y="7966251"/>
            <a:ext cx="225765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Clinic 1</a:t>
            </a:r>
          </a:p>
        </p:txBody>
      </p:sp>
      <p:sp>
        <p:nvSpPr>
          <p:cNvPr id="391" name="Clinic 2"/>
          <p:cNvSpPr txBox="1"/>
          <p:nvPr/>
        </p:nvSpPr>
        <p:spPr>
          <a:xfrm>
            <a:off x="19278009" y="7966251"/>
            <a:ext cx="225765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Clinic 2</a:t>
            </a:r>
          </a:p>
        </p:txBody>
      </p:sp>
      <p:sp>
        <p:nvSpPr>
          <p:cNvPr id="392" name="Large clinic in city that deals with a range of different psychological conditions with a large number of clients."/>
          <p:cNvSpPr txBox="1"/>
          <p:nvPr/>
        </p:nvSpPr>
        <p:spPr>
          <a:xfrm>
            <a:off x="12559623" y="9270666"/>
            <a:ext cx="4388695" cy="231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75757"/>
                </a:solidFill>
              </a:defRPr>
            </a:lvl1pPr>
          </a:lstStyle>
          <a:p>
            <a:pPr/>
            <a:r>
              <a:t>Large clinic in city that deals with a range of different psychological conditions with a large number of clients.</a:t>
            </a:r>
          </a:p>
        </p:txBody>
      </p:sp>
      <p:sp>
        <p:nvSpPr>
          <p:cNvPr id="393" name="Small clinic in countryside that specializes in serious cases of clinical depression with small number of clients."/>
          <p:cNvSpPr txBox="1"/>
          <p:nvPr/>
        </p:nvSpPr>
        <p:spPr>
          <a:xfrm>
            <a:off x="18212489" y="9052928"/>
            <a:ext cx="4388695" cy="2750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75757"/>
                </a:solidFill>
              </a:defRPr>
            </a:lvl1pPr>
          </a:lstStyle>
          <a:p>
            <a:pPr/>
            <a:r>
              <a:t>Small clinic in countryside that specializes in serious cases of clinical depression with small number of clients.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6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t>What information might the mixed ANOVA be missing?</a:t>
            </a:r>
          </a:p>
        </p:txBody>
      </p:sp>
      <p:sp>
        <p:nvSpPr>
          <p:cNvPr id="39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8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9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Clients might come from clusters of clinics</a:t>
            </a:r>
          </a:p>
        </p:txBody>
      </p:sp>
      <p:sp>
        <p:nvSpPr>
          <p:cNvPr id="400" name="Rounded Rectangle"/>
          <p:cNvSpPr/>
          <p:nvPr/>
        </p:nvSpPr>
        <p:spPr>
          <a:xfrm>
            <a:off x="920025" y="7252849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1" name="Clients might have different therapists"/>
          <p:cNvSpPr txBox="1"/>
          <p:nvPr/>
        </p:nvSpPr>
        <p:spPr>
          <a:xfrm>
            <a:off x="2714751" y="7788865"/>
            <a:ext cx="5459872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Clients might have different therapists</a:t>
            </a:r>
          </a:p>
        </p:txBody>
      </p:sp>
      <p:sp>
        <p:nvSpPr>
          <p:cNvPr id="402" name="Therapist 1: Ana"/>
          <p:cNvSpPr txBox="1"/>
          <p:nvPr/>
        </p:nvSpPr>
        <p:spPr>
          <a:xfrm>
            <a:off x="11909069" y="7966251"/>
            <a:ext cx="50358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1: Ana</a:t>
            </a:r>
          </a:p>
        </p:txBody>
      </p:sp>
      <p:sp>
        <p:nvSpPr>
          <p:cNvPr id="403" name="Private practitioner with self-referred clients. Has, on average, moderate levels of rapport with clients."/>
          <p:cNvSpPr txBox="1"/>
          <p:nvPr/>
        </p:nvSpPr>
        <p:spPr>
          <a:xfrm>
            <a:off x="11835752" y="9178973"/>
            <a:ext cx="5182450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F5F5F"/>
                </a:solidFill>
              </a:defRPr>
            </a:lvl1pPr>
          </a:lstStyle>
          <a:p>
            <a:pPr/>
            <a:r>
              <a:t>Private practitioner with self-referred clients. Has, on average, moderate levels of rapport with clients.</a:t>
            </a:r>
          </a:p>
        </p:txBody>
      </p:sp>
      <p:sp>
        <p:nvSpPr>
          <p:cNvPr id="404" name="Therapist 2: Mila"/>
          <p:cNvSpPr txBox="1"/>
          <p:nvPr/>
        </p:nvSpPr>
        <p:spPr>
          <a:xfrm>
            <a:off x="18217122" y="7966251"/>
            <a:ext cx="5835619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2: Mila</a:t>
            </a:r>
          </a:p>
        </p:txBody>
      </p:sp>
      <p:sp>
        <p:nvSpPr>
          <p:cNvPr id="405" name="Works in a critical care clinic for severe cases of depression. Has, on average, very high levels of rapport with clients."/>
          <p:cNvSpPr txBox="1"/>
          <p:nvPr/>
        </p:nvSpPr>
        <p:spPr>
          <a:xfrm>
            <a:off x="18543707" y="9178973"/>
            <a:ext cx="5182449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616161"/>
                </a:solidFill>
              </a:defRPr>
            </a:lvl1pPr>
          </a:lstStyle>
          <a:p>
            <a:pPr/>
            <a:r>
              <a:t>Works in a critical care clinic for severe cases of depression. Has, on average, very high levels of rapport with clients.</a:t>
            </a:r>
          </a:p>
        </p:txBody>
      </p:sp>
      <p:pic>
        <p:nvPicPr>
          <p:cNvPr id="40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912617" y="5147051"/>
            <a:ext cx="2444629" cy="2444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04663" y="5147051"/>
            <a:ext cx="2444628" cy="24446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2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t>What information might the mixed ANOVA be missing?</a:t>
            </a:r>
          </a:p>
        </p:txBody>
      </p:sp>
      <p:sp>
        <p:nvSpPr>
          <p:cNvPr id="41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14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5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Clients might come from clusters of clinics</a:t>
            </a:r>
          </a:p>
        </p:txBody>
      </p:sp>
      <p:sp>
        <p:nvSpPr>
          <p:cNvPr id="416" name="Rounded Rectangle"/>
          <p:cNvSpPr/>
          <p:nvPr/>
        </p:nvSpPr>
        <p:spPr>
          <a:xfrm>
            <a:off x="920025" y="7252849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7" name="Clients might have different therapists"/>
          <p:cNvSpPr txBox="1"/>
          <p:nvPr/>
        </p:nvSpPr>
        <p:spPr>
          <a:xfrm>
            <a:off x="2714751" y="7788865"/>
            <a:ext cx="5459872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Clients might have different therapists</a:t>
            </a:r>
          </a:p>
        </p:txBody>
      </p:sp>
      <p:sp>
        <p:nvSpPr>
          <p:cNvPr id="418" name="Rounded Rectangle"/>
          <p:cNvSpPr/>
          <p:nvPr/>
        </p:nvSpPr>
        <p:spPr>
          <a:xfrm>
            <a:off x="920025" y="10135330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9" name="Many other possible types of clustering"/>
          <p:cNvSpPr txBox="1"/>
          <p:nvPr/>
        </p:nvSpPr>
        <p:spPr>
          <a:xfrm>
            <a:off x="2364800" y="10671346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Many other possible types of clustering</a:t>
            </a:r>
          </a:p>
        </p:txBody>
      </p:sp>
      <p:pic>
        <p:nvPicPr>
          <p:cNvPr id="42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80536" y="4512828"/>
            <a:ext cx="7727363" cy="77273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ounded Rectangle"/>
          <p:cNvSpPr/>
          <p:nvPr/>
        </p:nvSpPr>
        <p:spPr>
          <a:xfrm>
            <a:off x="5773834" y="931402"/>
            <a:ext cx="12836332" cy="2590934"/>
          </a:xfrm>
          <a:prstGeom prst="roundRect">
            <a:avLst>
              <a:gd name="adj" fmla="val 49641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3" name="What information might the mixed ANOVA be missing?"/>
          <p:cNvSpPr txBox="1"/>
          <p:nvPr/>
        </p:nvSpPr>
        <p:spPr>
          <a:xfrm>
            <a:off x="7803222" y="1436493"/>
            <a:ext cx="8777556" cy="158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5100"/>
            </a:lvl1pPr>
          </a:lstStyle>
          <a:p>
            <a:pPr/>
            <a:r>
              <a:t>What information might the mixed ANOVA be missing?</a:t>
            </a:r>
          </a:p>
        </p:txBody>
      </p:sp>
      <p:sp>
        <p:nvSpPr>
          <p:cNvPr id="42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25" name="Rounded Rectangle"/>
          <p:cNvSpPr/>
          <p:nvPr/>
        </p:nvSpPr>
        <p:spPr>
          <a:xfrm>
            <a:off x="920025" y="4370368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6" name="Clients might come from clusters of clinics"/>
          <p:cNvSpPr txBox="1"/>
          <p:nvPr/>
        </p:nvSpPr>
        <p:spPr>
          <a:xfrm>
            <a:off x="2364800" y="4906385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Clients might come from clusters of clinics</a:t>
            </a:r>
          </a:p>
        </p:txBody>
      </p:sp>
      <p:sp>
        <p:nvSpPr>
          <p:cNvPr id="427" name="Rounded Rectangle"/>
          <p:cNvSpPr/>
          <p:nvPr/>
        </p:nvSpPr>
        <p:spPr>
          <a:xfrm>
            <a:off x="920025" y="7252849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8" name="Clients might have different therapists"/>
          <p:cNvSpPr txBox="1"/>
          <p:nvPr/>
        </p:nvSpPr>
        <p:spPr>
          <a:xfrm>
            <a:off x="2714751" y="7788865"/>
            <a:ext cx="5459872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Clients might have different therapists</a:t>
            </a:r>
          </a:p>
        </p:txBody>
      </p:sp>
      <p:sp>
        <p:nvSpPr>
          <p:cNvPr id="429" name="Rounded Rectangle"/>
          <p:cNvSpPr/>
          <p:nvPr/>
        </p:nvSpPr>
        <p:spPr>
          <a:xfrm>
            <a:off x="920025" y="10135330"/>
            <a:ext cx="9049324" cy="2247322"/>
          </a:xfrm>
          <a:prstGeom prst="roundRect">
            <a:avLst>
              <a:gd name="adj" fmla="val 2249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0" name="Many other possible types of clustering"/>
          <p:cNvSpPr txBox="1"/>
          <p:nvPr/>
        </p:nvSpPr>
        <p:spPr>
          <a:xfrm>
            <a:off x="2364800" y="10671346"/>
            <a:ext cx="6159774" cy="117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Many other possible types of clustering</a:t>
            </a:r>
          </a:p>
        </p:txBody>
      </p:sp>
      <p:sp>
        <p:nvSpPr>
          <p:cNvPr id="431" name="This violates a specific assumption of ANOVA:"/>
          <p:cNvSpPr txBox="1"/>
          <p:nvPr/>
        </p:nvSpPr>
        <p:spPr>
          <a:xfrm>
            <a:off x="13845049" y="5790380"/>
            <a:ext cx="8549544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t>This violates a specific assumption of ANOVA:</a:t>
            </a:r>
          </a:p>
        </p:txBody>
      </p:sp>
      <p:sp>
        <p:nvSpPr>
          <p:cNvPr id="432" name="Independence of observations"/>
          <p:cNvSpPr txBox="1"/>
          <p:nvPr/>
        </p:nvSpPr>
        <p:spPr>
          <a:xfrm>
            <a:off x="13845049" y="8802033"/>
            <a:ext cx="8549544" cy="148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/>
            </a:lvl1pPr>
          </a:lstStyle>
          <a:p>
            <a:pPr/>
            <a:r>
              <a:t>Independence of observations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7" name="Therapist 1: Ana"/>
          <p:cNvSpPr txBox="1"/>
          <p:nvPr/>
        </p:nvSpPr>
        <p:spPr>
          <a:xfrm>
            <a:off x="4117375" y="6447741"/>
            <a:ext cx="50358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1: Ana</a:t>
            </a:r>
          </a:p>
        </p:txBody>
      </p:sp>
      <p:sp>
        <p:nvSpPr>
          <p:cNvPr id="438" name="Private practitioner with self-referred clients. Has, on average, moderate levels of rapport with clients."/>
          <p:cNvSpPr txBox="1"/>
          <p:nvPr/>
        </p:nvSpPr>
        <p:spPr>
          <a:xfrm>
            <a:off x="4044058" y="7716594"/>
            <a:ext cx="5182449" cy="231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F5F5F"/>
                </a:solidFill>
              </a:defRPr>
            </a:lvl1pPr>
          </a:lstStyle>
          <a:p>
            <a:pPr/>
            <a:r>
              <a:t>Private practitioner with self-referred clients. Has, on average, moderate levels of rapport with clients.</a:t>
            </a:r>
          </a:p>
        </p:txBody>
      </p:sp>
      <p:sp>
        <p:nvSpPr>
          <p:cNvPr id="439" name="Therapist 2: Mila"/>
          <p:cNvSpPr txBox="1"/>
          <p:nvPr/>
        </p:nvSpPr>
        <p:spPr>
          <a:xfrm>
            <a:off x="15734306" y="6447741"/>
            <a:ext cx="4910017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2: Mila</a:t>
            </a:r>
          </a:p>
        </p:txBody>
      </p:sp>
      <p:sp>
        <p:nvSpPr>
          <p:cNvPr id="440" name="Works in a critical care clinic for severe cases of depression. Has, on average, very high levels of rapport with clients."/>
          <p:cNvSpPr txBox="1"/>
          <p:nvPr/>
        </p:nvSpPr>
        <p:spPr>
          <a:xfrm>
            <a:off x="15598090" y="7772726"/>
            <a:ext cx="5182449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616161"/>
                </a:solidFill>
              </a:defRPr>
            </a:lvl1pPr>
          </a:lstStyle>
          <a:p>
            <a:pPr/>
            <a:r>
              <a:t>Works in a critical care clinic for severe cases of depression. Has, on average, very high levels of rapport with clients.</a:t>
            </a:r>
          </a:p>
        </p:txBody>
      </p:sp>
      <p:pic>
        <p:nvPicPr>
          <p:cNvPr id="44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67000" y="3740804"/>
            <a:ext cx="2444629" cy="2444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12969" y="3684672"/>
            <a:ext cx="2444628" cy="2444629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Our Worked Example: Different Therapis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Worked Example: Different Therapists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ounded Rectangle"/>
          <p:cNvSpPr/>
          <p:nvPr/>
        </p:nvSpPr>
        <p:spPr>
          <a:xfrm>
            <a:off x="3366605" y="11491465"/>
            <a:ext cx="17650790" cy="913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55" y="21600"/>
                </a:moveTo>
                <a:lnTo>
                  <a:pt x="20745" y="21600"/>
                </a:lnTo>
                <a:cubicBezTo>
                  <a:pt x="20989" y="21600"/>
                  <a:pt x="21135" y="21600"/>
                  <a:pt x="21232" y="20949"/>
                </a:cubicBezTo>
                <a:cubicBezTo>
                  <a:pt x="21387" y="19857"/>
                  <a:pt x="21510" y="17494"/>
                  <a:pt x="21566" y="14494"/>
                </a:cubicBezTo>
                <a:cubicBezTo>
                  <a:pt x="21589" y="13310"/>
                  <a:pt x="21600" y="12060"/>
                  <a:pt x="21600" y="10800"/>
                </a:cubicBezTo>
                <a:cubicBezTo>
                  <a:pt x="21600" y="9540"/>
                  <a:pt x="21589" y="8290"/>
                  <a:pt x="21566" y="7106"/>
                </a:cubicBezTo>
                <a:cubicBezTo>
                  <a:pt x="21510" y="4106"/>
                  <a:pt x="21387" y="1743"/>
                  <a:pt x="21232" y="651"/>
                </a:cubicBezTo>
                <a:cubicBezTo>
                  <a:pt x="21135" y="0"/>
                  <a:pt x="20989" y="0"/>
                  <a:pt x="20745" y="0"/>
                </a:cubicBezTo>
                <a:lnTo>
                  <a:pt x="855" y="0"/>
                </a:lnTo>
                <a:cubicBezTo>
                  <a:pt x="611" y="0"/>
                  <a:pt x="465" y="0"/>
                  <a:pt x="368" y="651"/>
                </a:cubicBezTo>
                <a:cubicBezTo>
                  <a:pt x="213" y="1743"/>
                  <a:pt x="90" y="4106"/>
                  <a:pt x="34" y="7106"/>
                </a:cubicBezTo>
                <a:cubicBezTo>
                  <a:pt x="11" y="8290"/>
                  <a:pt x="0" y="9540"/>
                  <a:pt x="0" y="10800"/>
                </a:cubicBezTo>
                <a:cubicBezTo>
                  <a:pt x="0" y="12060"/>
                  <a:pt x="11" y="13310"/>
                  <a:pt x="34" y="14494"/>
                </a:cubicBezTo>
                <a:cubicBezTo>
                  <a:pt x="90" y="17494"/>
                  <a:pt x="213" y="19857"/>
                  <a:pt x="368" y="20949"/>
                </a:cubicBezTo>
                <a:cubicBezTo>
                  <a:pt x="465" y="21600"/>
                  <a:pt x="611" y="21600"/>
                  <a:pt x="855" y="21600"/>
                </a:cubicBezTo>
                <a:close/>
              </a:path>
            </a:pathLst>
          </a:cu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7" name="Therapist 1: Ana"/>
          <p:cNvSpPr txBox="1"/>
          <p:nvPr/>
        </p:nvSpPr>
        <p:spPr>
          <a:xfrm>
            <a:off x="4117375" y="6447741"/>
            <a:ext cx="50358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1: Ana</a:t>
            </a:r>
          </a:p>
        </p:txBody>
      </p:sp>
      <p:sp>
        <p:nvSpPr>
          <p:cNvPr id="448" name="Private practitioner with self-referred clients. Has, on average, moderate levels of rapport with clients."/>
          <p:cNvSpPr txBox="1"/>
          <p:nvPr/>
        </p:nvSpPr>
        <p:spPr>
          <a:xfrm>
            <a:off x="4044058" y="7716594"/>
            <a:ext cx="5182449" cy="2314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5F5F5F"/>
                </a:solidFill>
              </a:defRPr>
            </a:lvl1pPr>
          </a:lstStyle>
          <a:p>
            <a:pPr/>
            <a:r>
              <a:t>Private practitioner with self-referred clients. Has, on average, moderate levels of rapport with clients.</a:t>
            </a:r>
          </a:p>
        </p:txBody>
      </p:sp>
      <p:sp>
        <p:nvSpPr>
          <p:cNvPr id="449" name="Therapist 2: Mila"/>
          <p:cNvSpPr txBox="1"/>
          <p:nvPr/>
        </p:nvSpPr>
        <p:spPr>
          <a:xfrm>
            <a:off x="15734306" y="6447741"/>
            <a:ext cx="4910016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2: Mila</a:t>
            </a:r>
          </a:p>
        </p:txBody>
      </p:sp>
      <p:sp>
        <p:nvSpPr>
          <p:cNvPr id="450" name="Works in a critical care clinic for severe cases of depression. Has, on average, very high levels of rapport with clients."/>
          <p:cNvSpPr txBox="1"/>
          <p:nvPr/>
        </p:nvSpPr>
        <p:spPr>
          <a:xfrm>
            <a:off x="15598089" y="7772725"/>
            <a:ext cx="5182450" cy="231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>
                <a:solidFill>
                  <a:srgbClr val="616161"/>
                </a:solidFill>
              </a:defRPr>
            </a:lvl1pPr>
          </a:lstStyle>
          <a:p>
            <a:pPr/>
            <a:r>
              <a:t>Works in a critical care clinic for severe cases of depression. Has, on average, very high levels of rapport with clients.</a:t>
            </a:r>
          </a:p>
        </p:txBody>
      </p:sp>
      <p:pic>
        <p:nvPicPr>
          <p:cNvPr id="45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67000" y="3740804"/>
            <a:ext cx="2444628" cy="2444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12969" y="3684672"/>
            <a:ext cx="2444628" cy="2444629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Our Worked Example: Different Therapis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Worked Example: Different Therapists</a:t>
            </a:r>
          </a:p>
        </p:txBody>
      </p:sp>
      <p:sp>
        <p:nvSpPr>
          <p:cNvPr id="454" name="depression ~ timepoint * treatment + Error(participant / timepoint)"/>
          <p:cNvSpPr txBox="1"/>
          <p:nvPr/>
        </p:nvSpPr>
        <p:spPr>
          <a:xfrm>
            <a:off x="4221071" y="11618621"/>
            <a:ext cx="15941859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depression ~ timepoint * treatment + Error(participant / timepoint)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5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26914" y="8905003"/>
            <a:ext cx="2444628" cy="2444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26914" y="3370330"/>
            <a:ext cx="2444628" cy="2444628"/>
          </a:xfrm>
          <a:prstGeom prst="rect">
            <a:avLst/>
          </a:prstGeom>
          <a:ln w="12700">
            <a:miter lim="400000"/>
          </a:ln>
        </p:spPr>
      </p:pic>
      <p:sp>
        <p:nvSpPr>
          <p:cNvPr id="459" name="Our Worked Example: Different Therapis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Worked Example: Different Therapists</a:t>
            </a:r>
          </a:p>
        </p:txBody>
      </p:sp>
      <p:sp>
        <p:nvSpPr>
          <p:cNvPr id="460" name="Lower mean baseline depression"/>
          <p:cNvSpPr txBox="1"/>
          <p:nvPr/>
        </p:nvSpPr>
        <p:spPr>
          <a:xfrm>
            <a:off x="9427080" y="4088494"/>
            <a:ext cx="3752847" cy="100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t>Lower mean baseline depression</a:t>
            </a:r>
          </a:p>
        </p:txBody>
      </p:sp>
      <p:sp>
        <p:nvSpPr>
          <p:cNvPr id="461" name="Less mean change"/>
          <p:cNvSpPr txBox="1"/>
          <p:nvPr/>
        </p:nvSpPr>
        <p:spPr>
          <a:xfrm>
            <a:off x="9427080" y="5318470"/>
            <a:ext cx="3752847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t>Less mean change</a:t>
            </a:r>
          </a:p>
        </p:txBody>
      </p:sp>
      <p:sp>
        <p:nvSpPr>
          <p:cNvPr id="462" name="Line"/>
          <p:cNvSpPr/>
          <p:nvPr/>
        </p:nvSpPr>
        <p:spPr>
          <a:xfrm flipV="1">
            <a:off x="14349332" y="8925661"/>
            <a:ext cx="3097926" cy="1201657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3" name="Line"/>
          <p:cNvSpPr/>
          <p:nvPr/>
        </p:nvSpPr>
        <p:spPr>
          <a:xfrm>
            <a:off x="7186813" y="5011533"/>
            <a:ext cx="1678835" cy="1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4" name="Therapist 1: Ana"/>
          <p:cNvSpPr txBox="1"/>
          <p:nvPr/>
        </p:nvSpPr>
        <p:spPr>
          <a:xfrm>
            <a:off x="2231320" y="6155851"/>
            <a:ext cx="5035816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1: Ana</a:t>
            </a:r>
          </a:p>
        </p:txBody>
      </p:sp>
      <p:sp>
        <p:nvSpPr>
          <p:cNvPr id="465" name="Therapist 2: Mila"/>
          <p:cNvSpPr txBox="1"/>
          <p:nvPr/>
        </p:nvSpPr>
        <p:spPr>
          <a:xfrm>
            <a:off x="1831419" y="11544578"/>
            <a:ext cx="5835618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Therapist 2: Mila</a:t>
            </a:r>
          </a:p>
        </p:txBody>
      </p:sp>
      <p:sp>
        <p:nvSpPr>
          <p:cNvPr id="466" name="Line"/>
          <p:cNvSpPr/>
          <p:nvPr/>
        </p:nvSpPr>
        <p:spPr>
          <a:xfrm>
            <a:off x="7186813" y="10820890"/>
            <a:ext cx="1678835" cy="1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7" name="Line"/>
          <p:cNvSpPr/>
          <p:nvPr/>
        </p:nvSpPr>
        <p:spPr>
          <a:xfrm>
            <a:off x="14349332" y="5011533"/>
            <a:ext cx="3098233" cy="1189210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8" name="Different intercepts"/>
          <p:cNvSpPr txBox="1"/>
          <p:nvPr/>
        </p:nvSpPr>
        <p:spPr>
          <a:xfrm>
            <a:off x="18910849" y="6509511"/>
            <a:ext cx="4777519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Different intercepts</a:t>
            </a:r>
          </a:p>
        </p:txBody>
      </p:sp>
      <p:sp>
        <p:nvSpPr>
          <p:cNvPr id="469" name="Different slopes"/>
          <p:cNvSpPr txBox="1"/>
          <p:nvPr/>
        </p:nvSpPr>
        <p:spPr>
          <a:xfrm>
            <a:off x="18843489" y="7557086"/>
            <a:ext cx="419374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Different slopes</a:t>
            </a:r>
          </a:p>
        </p:txBody>
      </p:sp>
      <p:sp>
        <p:nvSpPr>
          <p:cNvPr id="470" name="Higher mean baseline depression"/>
          <p:cNvSpPr txBox="1"/>
          <p:nvPr/>
        </p:nvSpPr>
        <p:spPr>
          <a:xfrm>
            <a:off x="9427080" y="9623167"/>
            <a:ext cx="3752847" cy="100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t>Higher mean baseline depression</a:t>
            </a:r>
          </a:p>
        </p:txBody>
      </p:sp>
      <p:sp>
        <p:nvSpPr>
          <p:cNvPr id="471" name="Greater mean change"/>
          <p:cNvSpPr txBox="1"/>
          <p:nvPr/>
        </p:nvSpPr>
        <p:spPr>
          <a:xfrm>
            <a:off x="9264296" y="10924938"/>
            <a:ext cx="4078415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200"/>
            </a:lvl1pPr>
          </a:lstStyle>
          <a:p>
            <a:pPr/>
            <a:r>
              <a:t>Greater mean change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Handling Sources of Variation</a:t>
            </a:r>
          </a:p>
        </p:txBody>
      </p:sp>
      <p:sp>
        <p:nvSpPr>
          <p:cNvPr id="474" name="Rounded Rectangle"/>
          <p:cNvSpPr/>
          <p:nvPr/>
        </p:nvSpPr>
        <p:spPr>
          <a:xfrm>
            <a:off x="3926583" y="3184982"/>
            <a:ext cx="16530834" cy="2496180"/>
          </a:xfrm>
          <a:prstGeom prst="roundRect">
            <a:avLst>
              <a:gd name="adj" fmla="val 37845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5" name="The slopes and intercepts for our therapists are different to our slopes and intercepts for treatment or timepoint"/>
          <p:cNvSpPr txBox="1"/>
          <p:nvPr/>
        </p:nvSpPr>
        <p:spPr>
          <a:xfrm>
            <a:off x="5072019" y="3809552"/>
            <a:ext cx="14239962" cy="12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The slopes and intercepts for our therapists are different to our slopes and intercepts for treatment or timepoint</a:t>
            </a:r>
          </a:p>
        </p:txBody>
      </p:sp>
      <p:sp>
        <p:nvSpPr>
          <p:cNvPr id="47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7" name="Rounded Rectangle"/>
          <p:cNvSpPr/>
          <p:nvPr/>
        </p:nvSpPr>
        <p:spPr>
          <a:xfrm>
            <a:off x="3926583" y="6167178"/>
            <a:ext cx="16530834" cy="275713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8" name="Ana and Mila are just two therapists of a random sample of the population of therapists who might deliver the intervention in the future"/>
          <p:cNvSpPr txBox="1"/>
          <p:nvPr/>
        </p:nvSpPr>
        <p:spPr>
          <a:xfrm>
            <a:off x="5072019" y="6641456"/>
            <a:ext cx="14239962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Ana and Mila are just two therapists of a </a:t>
            </a:r>
            <a:r>
              <a:rPr b="1"/>
              <a:t>random sample </a:t>
            </a:r>
            <a:r>
              <a:t>of the population of therapists who might deliver the intervention in the future</a:t>
            </a:r>
          </a:p>
        </p:txBody>
      </p:sp>
      <p:pic>
        <p:nvPicPr>
          <p:cNvPr id="47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4240" y="10024483"/>
            <a:ext cx="1433164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55390" y="10754206"/>
            <a:ext cx="1433163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355047" y="9201806"/>
            <a:ext cx="1247040" cy="1247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254849" y="10203607"/>
            <a:ext cx="1247039" cy="1247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9938826" y="10827811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4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9009448" y="11976249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5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570871" y="9537505"/>
            <a:ext cx="1247039" cy="1247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" name="pasted-movie.png" descr="pasted-movi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7116568" y="11385033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" name="pasted-movie.png" descr="pasted-movi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5223688" y="11128286"/>
            <a:ext cx="1247040" cy="1247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" name="pasted-movie.png" descr="pasted-movie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4309939" y="9863586"/>
            <a:ext cx="1247039" cy="1247039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Line"/>
          <p:cNvSpPr/>
          <p:nvPr/>
        </p:nvSpPr>
        <p:spPr>
          <a:xfrm>
            <a:off x="10559906" y="11159441"/>
            <a:ext cx="3264188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ounded Rectangle"/>
          <p:cNvSpPr/>
          <p:nvPr/>
        </p:nvSpPr>
        <p:spPr>
          <a:xfrm>
            <a:off x="3926583" y="8154621"/>
            <a:ext cx="16530834" cy="2847740"/>
          </a:xfrm>
          <a:prstGeom prst="roundRect">
            <a:avLst>
              <a:gd name="adj" fmla="val 45164"/>
            </a:avLst>
          </a:prstGeom>
          <a:solidFill>
            <a:srgbClr val="FF4C54">
              <a:alpha val="20849"/>
            </a:srgbClr>
          </a:solidFill>
          <a:ln w="25400">
            <a:solidFill>
              <a:srgbClr val="E8D7A9">
                <a:alpha val="37081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2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Handling Sources of Variation</a:t>
            </a:r>
          </a:p>
        </p:txBody>
      </p:sp>
      <p:sp>
        <p:nvSpPr>
          <p:cNvPr id="493" name="Rounded Rectangle"/>
          <p:cNvSpPr/>
          <p:nvPr/>
        </p:nvSpPr>
        <p:spPr>
          <a:xfrm>
            <a:off x="3926583" y="4297530"/>
            <a:ext cx="16530834" cy="2847740"/>
          </a:xfrm>
          <a:prstGeom prst="roundRect">
            <a:avLst>
              <a:gd name="adj" fmla="val 33173"/>
            </a:avLst>
          </a:prstGeom>
          <a:solidFill>
            <a:srgbClr val="2D5600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4" name="Our treatment and timepoints are fixed effects"/>
          <p:cNvSpPr txBox="1"/>
          <p:nvPr/>
        </p:nvSpPr>
        <p:spPr>
          <a:xfrm>
            <a:off x="5072019" y="5366817"/>
            <a:ext cx="14239962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Our treatment and timepoints are </a:t>
            </a:r>
            <a:r>
              <a:rPr b="1"/>
              <a:t>fixed </a:t>
            </a:r>
            <a:r>
              <a:t>effects</a:t>
            </a:r>
          </a:p>
        </p:txBody>
      </p:sp>
      <p:sp>
        <p:nvSpPr>
          <p:cNvPr id="49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96" name="But our therapists are random effects"/>
          <p:cNvSpPr txBox="1"/>
          <p:nvPr/>
        </p:nvSpPr>
        <p:spPr>
          <a:xfrm>
            <a:off x="5072019" y="9223908"/>
            <a:ext cx="14239962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But our therapists are </a:t>
            </a:r>
            <a:r>
              <a:rPr b="1"/>
              <a:t>random </a:t>
            </a:r>
            <a:r>
              <a:t>effects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Handling Sources of Variation</a:t>
            </a:r>
          </a:p>
        </p:txBody>
      </p:sp>
      <p:sp>
        <p:nvSpPr>
          <p:cNvPr id="499" name="Rounded Rectangle"/>
          <p:cNvSpPr/>
          <p:nvPr/>
        </p:nvSpPr>
        <p:spPr>
          <a:xfrm>
            <a:off x="3726441" y="5270470"/>
            <a:ext cx="16530834" cy="2496181"/>
          </a:xfrm>
          <a:prstGeom prst="roundRect">
            <a:avLst>
              <a:gd name="adj" fmla="val 37845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0" name="Rounded Rectangle"/>
          <p:cNvSpPr/>
          <p:nvPr/>
        </p:nvSpPr>
        <p:spPr>
          <a:xfrm>
            <a:off x="5137922" y="5696378"/>
            <a:ext cx="13797683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1" name="depression ~ 1 + timepoint * treatment + (1 | therapist)"/>
          <p:cNvSpPr txBox="1"/>
          <p:nvPr/>
        </p:nvSpPr>
        <p:spPr>
          <a:xfrm>
            <a:off x="5493992" y="5845327"/>
            <a:ext cx="13420497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 * treatment + (1 | therapist)</a:t>
            </a:r>
          </a:p>
        </p:txBody>
      </p:sp>
      <p:sp>
        <p:nvSpPr>
          <p:cNvPr id="502" name="Fixed effects"/>
          <p:cNvSpPr txBox="1"/>
          <p:nvPr/>
        </p:nvSpPr>
        <p:spPr>
          <a:xfrm>
            <a:off x="3269319" y="8440430"/>
            <a:ext cx="360426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7F00"/>
                </a:solidFill>
              </a:defRPr>
            </a:lvl1pPr>
          </a:lstStyle>
          <a:p>
            <a:pPr/>
            <a:r>
              <a:t>Fixed effects</a:t>
            </a:r>
          </a:p>
        </p:txBody>
      </p:sp>
      <p:sp>
        <p:nvSpPr>
          <p:cNvPr id="503" name="Random effects"/>
          <p:cNvSpPr txBox="1"/>
          <p:nvPr/>
        </p:nvSpPr>
        <p:spPr>
          <a:xfrm>
            <a:off x="18328732" y="8440430"/>
            <a:ext cx="442966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Random effects</a:t>
            </a:r>
          </a:p>
        </p:txBody>
      </p:sp>
      <p:sp>
        <p:nvSpPr>
          <p:cNvPr id="50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5" name="Line"/>
          <p:cNvSpPr/>
          <p:nvPr/>
        </p:nvSpPr>
        <p:spPr>
          <a:xfrm>
            <a:off x="8774758" y="6600430"/>
            <a:ext cx="6034840" cy="1"/>
          </a:xfrm>
          <a:prstGeom prst="line">
            <a:avLst/>
          </a:prstGeom>
          <a:ln w="63500">
            <a:solidFill>
              <a:srgbClr val="008000"/>
            </a:solidFill>
            <a:miter lim="400000"/>
            <a:headEnd type="triangle" len="sm"/>
            <a:tailEnd type="triangle" len="sm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06" name="Line"/>
          <p:cNvSpPr/>
          <p:nvPr/>
        </p:nvSpPr>
        <p:spPr>
          <a:xfrm>
            <a:off x="15259640" y="6600430"/>
            <a:ext cx="3252856" cy="1"/>
          </a:xfrm>
          <a:prstGeom prst="line">
            <a:avLst/>
          </a:prstGeom>
          <a:ln w="63500">
            <a:solidFill>
              <a:srgbClr val="FF0000"/>
            </a:solidFill>
            <a:miter lim="400000"/>
            <a:headEnd type="triangle" len="sm"/>
            <a:tailEnd type="triangle" len="sm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07" name="This is called a multilevel model"/>
          <p:cNvSpPr txBox="1"/>
          <p:nvPr/>
        </p:nvSpPr>
        <p:spPr>
          <a:xfrm>
            <a:off x="7326157" y="9905227"/>
            <a:ext cx="9764352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5000"/>
            </a:pPr>
            <a:r>
              <a:t>This is called a </a:t>
            </a:r>
            <a:r>
              <a:rPr b="1"/>
              <a:t>multilevel model</a:t>
            </a:r>
          </a:p>
        </p:txBody>
      </p:sp>
      <p:sp>
        <p:nvSpPr>
          <p:cNvPr id="508" name="(or linear mixed model, or mixed-effects model)"/>
          <p:cNvSpPr txBox="1"/>
          <p:nvPr/>
        </p:nvSpPr>
        <p:spPr>
          <a:xfrm>
            <a:off x="8261686" y="10954309"/>
            <a:ext cx="7893294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>
                <a:solidFill>
                  <a:srgbClr val="656565"/>
                </a:solidFill>
              </a:defRPr>
            </a:lvl1pPr>
          </a:lstStyle>
          <a:p>
            <a:pPr>
              <a:defRPr sz="4000"/>
            </a:pPr>
            <a:r>
              <a:rPr sz="2800"/>
              <a:t>(or linear mixed model, or mixed-effects model)</a:t>
            </a:r>
          </a:p>
        </p:txBody>
      </p:sp>
      <p:sp>
        <p:nvSpPr>
          <p:cNvPr id="509" name="Line"/>
          <p:cNvSpPr/>
          <p:nvPr/>
        </p:nvSpPr>
        <p:spPr>
          <a:xfrm flipV="1">
            <a:off x="6500154" y="7118876"/>
            <a:ext cx="2353155" cy="1312375"/>
          </a:xfrm>
          <a:prstGeom prst="line">
            <a:avLst/>
          </a:prstGeom>
          <a:ln w="63500">
            <a:solidFill>
              <a:srgbClr val="007F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0" name="Line"/>
          <p:cNvSpPr/>
          <p:nvPr/>
        </p:nvSpPr>
        <p:spPr>
          <a:xfrm flipH="1" flipV="1">
            <a:off x="17025718" y="6943470"/>
            <a:ext cx="1790981" cy="1259546"/>
          </a:xfrm>
          <a:prstGeom prst="line">
            <a:avLst/>
          </a:prstGeom>
          <a:ln w="635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Handling Sources of Variat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Handling Sources of Variation</a:t>
            </a:r>
          </a:p>
        </p:txBody>
      </p:sp>
      <p:sp>
        <p:nvSpPr>
          <p:cNvPr id="513" name="Rounded Rectangle"/>
          <p:cNvSpPr/>
          <p:nvPr/>
        </p:nvSpPr>
        <p:spPr>
          <a:xfrm>
            <a:off x="3656188" y="3263757"/>
            <a:ext cx="16757281" cy="2590933"/>
          </a:xfrm>
          <a:prstGeom prst="roundRect">
            <a:avLst>
              <a:gd name="adj" fmla="val 4964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4" name="We have talked about intercepts and slopes for fixed effects. There are also intercepts and slopes for random effects."/>
          <p:cNvSpPr txBox="1"/>
          <p:nvPr/>
        </p:nvSpPr>
        <p:spPr>
          <a:xfrm>
            <a:off x="5101840" y="3935704"/>
            <a:ext cx="14180320" cy="12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We have talked about intercepts and slopes for fixed effects. There are also intercepts and slopes for random effects.</a:t>
            </a:r>
          </a:p>
        </p:txBody>
      </p:sp>
      <p:sp>
        <p:nvSpPr>
          <p:cNvPr id="515" name="Rounded Rectangle"/>
          <p:cNvSpPr/>
          <p:nvPr/>
        </p:nvSpPr>
        <p:spPr>
          <a:xfrm>
            <a:off x="3433938" y="6620624"/>
            <a:ext cx="17201781" cy="3511772"/>
          </a:xfrm>
          <a:prstGeom prst="roundRect">
            <a:avLst>
              <a:gd name="adj" fmla="val 37596"/>
            </a:avLst>
          </a:prstGeom>
          <a:solidFill>
            <a:srgbClr val="E8D7A9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6" name="Random intercepts mean different levels of a random effect variable may have different means.…"/>
          <p:cNvSpPr txBox="1"/>
          <p:nvPr/>
        </p:nvSpPr>
        <p:spPr>
          <a:xfrm>
            <a:off x="4829246" y="6905697"/>
            <a:ext cx="14725508" cy="294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b="1" sz="4000"/>
            </a:pPr>
            <a:r>
              <a:t>Random intercepts </a:t>
            </a:r>
            <a:r>
              <a:rPr b="0"/>
              <a:t>mean different levels of a random effect variable may have different means.</a:t>
            </a:r>
            <a:endParaRPr b="0"/>
          </a:p>
          <a:p>
            <a:pPr algn="ctr">
              <a:defRPr b="1" sz="4000"/>
            </a:pPr>
            <a:r>
              <a:t>Random slopes </a:t>
            </a:r>
            <a:r>
              <a:rPr b="0"/>
              <a:t>model not only differences in means, but also differences in how much they change over time. </a:t>
            </a:r>
          </a:p>
        </p:txBody>
      </p:sp>
      <p:sp>
        <p:nvSpPr>
          <p:cNvPr id="51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andom Intercep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 Intercepts</a:t>
            </a:r>
          </a:p>
        </p:txBody>
      </p:sp>
      <p:sp>
        <p:nvSpPr>
          <p:cNvPr id="520" name="Rounded Rectangle"/>
          <p:cNvSpPr/>
          <p:nvPr/>
        </p:nvSpPr>
        <p:spPr>
          <a:xfrm>
            <a:off x="10348264" y="164009"/>
            <a:ext cx="13907024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1" name="depression ~ 1 + timepoint * treatment + (1 | therapist)"/>
          <p:cNvSpPr txBox="1"/>
          <p:nvPr/>
        </p:nvSpPr>
        <p:spPr>
          <a:xfrm>
            <a:off x="10806067" y="313209"/>
            <a:ext cx="12991418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 * treatment + (1 | therapist)</a:t>
            </a:r>
          </a:p>
        </p:txBody>
      </p:sp>
      <p:sp>
        <p:nvSpPr>
          <p:cNvPr id="52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2043" y="2608671"/>
            <a:ext cx="14709918" cy="10509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pasted-movie.png" descr="pasted-movie.png"/>
          <p:cNvPicPr>
            <a:picLocks noChangeAspect="1"/>
          </p:cNvPicPr>
          <p:nvPr/>
        </p:nvPicPr>
        <p:blipFill>
          <a:blip r:embed="rId2">
            <a:alphaModFix amt="29610"/>
            <a:extLst/>
          </a:blip>
          <a:stretch>
            <a:fillRect/>
          </a:stretch>
        </p:blipFill>
        <p:spPr>
          <a:xfrm>
            <a:off x="4742043" y="2608671"/>
            <a:ext cx="14709918" cy="10509929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Random Intercept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 Intercepts</a:t>
            </a:r>
          </a:p>
        </p:txBody>
      </p:sp>
      <p:sp>
        <p:nvSpPr>
          <p:cNvPr id="527" name="Rounded Rectangle"/>
          <p:cNvSpPr/>
          <p:nvPr/>
        </p:nvSpPr>
        <p:spPr>
          <a:xfrm>
            <a:off x="10348264" y="164009"/>
            <a:ext cx="1390702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8" name="depression ~ 1 + timepoint * treatment + (1 | therapist)"/>
          <p:cNvSpPr txBox="1"/>
          <p:nvPr/>
        </p:nvSpPr>
        <p:spPr>
          <a:xfrm>
            <a:off x="10806067" y="313209"/>
            <a:ext cx="12991417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 * treatment + (1 | therapist)</a:t>
            </a:r>
          </a:p>
        </p:txBody>
      </p:sp>
      <p:sp>
        <p:nvSpPr>
          <p:cNvPr id="52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3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52915" y="3322251"/>
            <a:ext cx="1433164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52915" y="7147053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Line"/>
          <p:cNvSpPr/>
          <p:nvPr/>
        </p:nvSpPr>
        <p:spPr>
          <a:xfrm flipV="1">
            <a:off x="6864314" y="3189318"/>
            <a:ext cx="2439489" cy="100308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3" name="Line"/>
          <p:cNvSpPr/>
          <p:nvPr/>
        </p:nvSpPr>
        <p:spPr>
          <a:xfrm flipV="1">
            <a:off x="6864315" y="6423219"/>
            <a:ext cx="2441264" cy="158528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4" name="Line"/>
          <p:cNvSpPr/>
          <p:nvPr/>
        </p:nvSpPr>
        <p:spPr>
          <a:xfrm>
            <a:off x="9459215" y="3171553"/>
            <a:ext cx="6153354" cy="4581287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5" name="Line"/>
          <p:cNvSpPr/>
          <p:nvPr/>
        </p:nvSpPr>
        <p:spPr>
          <a:xfrm>
            <a:off x="9459215" y="6367989"/>
            <a:ext cx="6153354" cy="4541622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andom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 Slopes</a:t>
            </a:r>
          </a:p>
        </p:txBody>
      </p:sp>
      <p:sp>
        <p:nvSpPr>
          <p:cNvPr id="538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9" name="depression ~ 1 + timepoint * treatment + (0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 * treatment + (0 + timepoint | therapist)</a:t>
            </a:r>
          </a:p>
        </p:txBody>
      </p:sp>
      <p:sp>
        <p:nvSpPr>
          <p:cNvPr id="54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4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25604" y="2375793"/>
            <a:ext cx="17332792" cy="107162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pasted-movie.png" descr="pasted-movie.png"/>
          <p:cNvPicPr>
            <a:picLocks noChangeAspect="1"/>
          </p:cNvPicPr>
          <p:nvPr/>
        </p:nvPicPr>
        <p:blipFill>
          <a:blip r:embed="rId2">
            <a:alphaModFix amt="29877"/>
            <a:extLst/>
          </a:blip>
          <a:stretch>
            <a:fillRect/>
          </a:stretch>
        </p:blipFill>
        <p:spPr>
          <a:xfrm>
            <a:off x="3525604" y="2375793"/>
            <a:ext cx="17332792" cy="10716294"/>
          </a:xfrm>
          <a:prstGeom prst="rect">
            <a:avLst/>
          </a:prstGeom>
          <a:ln w="12700">
            <a:miter lim="400000"/>
          </a:ln>
        </p:spPr>
      </p:pic>
      <p:sp>
        <p:nvSpPr>
          <p:cNvPr id="544" name="Random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 Slopes</a:t>
            </a:r>
          </a:p>
        </p:txBody>
      </p:sp>
      <p:sp>
        <p:nvSpPr>
          <p:cNvPr id="545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6" name="depression ~ 1 + timepoint * treatment + (0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 * treatment + (0 + timepoint | therapist)</a:t>
            </a:r>
          </a:p>
        </p:txBody>
      </p:sp>
      <p:sp>
        <p:nvSpPr>
          <p:cNvPr id="54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4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16715" y="8710980"/>
            <a:ext cx="1433164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4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485666" y="5421610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50" name="Line"/>
          <p:cNvSpPr/>
          <p:nvPr/>
        </p:nvSpPr>
        <p:spPr>
          <a:xfrm flipH="1" flipV="1">
            <a:off x="14208826" y="5513462"/>
            <a:ext cx="3277180" cy="6799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1" name="Line"/>
          <p:cNvSpPr/>
          <p:nvPr/>
        </p:nvSpPr>
        <p:spPr>
          <a:xfrm flipV="1">
            <a:off x="10299629" y="9393779"/>
            <a:ext cx="4410708" cy="664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2" name="Line"/>
          <p:cNvSpPr/>
          <p:nvPr/>
        </p:nvSpPr>
        <p:spPr>
          <a:xfrm>
            <a:off x="9115323" y="3030878"/>
            <a:ext cx="7159557" cy="3684099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3" name="Line"/>
          <p:cNvSpPr/>
          <p:nvPr/>
        </p:nvSpPr>
        <p:spPr>
          <a:xfrm>
            <a:off x="9106510" y="3028260"/>
            <a:ext cx="7177183" cy="7815236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andom Intercepts and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 Intercepts and Slopes</a:t>
            </a:r>
          </a:p>
        </p:txBody>
      </p:sp>
      <p:sp>
        <p:nvSpPr>
          <p:cNvPr id="5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57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58" name="depression ~ 1 + timepoint * treatment + (1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 * treatment + (1 + timepoint | therapist)</a:t>
            </a:r>
          </a:p>
        </p:txBody>
      </p:sp>
      <p:pic>
        <p:nvPicPr>
          <p:cNvPr id="5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48624" y="2637333"/>
            <a:ext cx="16486752" cy="101932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pasted-movie.png" descr="pasted-movie.png"/>
          <p:cNvPicPr>
            <a:picLocks noChangeAspect="1"/>
          </p:cNvPicPr>
          <p:nvPr/>
        </p:nvPicPr>
        <p:blipFill>
          <a:blip r:embed="rId2">
            <a:alphaModFix amt="29962"/>
            <a:extLst/>
          </a:blip>
          <a:stretch>
            <a:fillRect/>
          </a:stretch>
        </p:blipFill>
        <p:spPr>
          <a:xfrm>
            <a:off x="3948624" y="2637333"/>
            <a:ext cx="16486752" cy="10193214"/>
          </a:xfrm>
          <a:prstGeom prst="rect">
            <a:avLst/>
          </a:prstGeom>
          <a:ln w="12700">
            <a:miter lim="400000"/>
          </a:ln>
        </p:spPr>
      </p:pic>
      <p:sp>
        <p:nvSpPr>
          <p:cNvPr id="562" name="Random Intercepts and Slope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Random Intercepts and Slopes</a:t>
            </a:r>
          </a:p>
        </p:txBody>
      </p:sp>
      <p:sp>
        <p:nvSpPr>
          <p:cNvPr id="56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64" name="Rounded Rectangle"/>
          <p:cNvSpPr/>
          <p:nvPr/>
        </p:nvSpPr>
        <p:spPr>
          <a:xfrm>
            <a:off x="7818966" y="164009"/>
            <a:ext cx="16486753" cy="1020066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5" name="depression ~ 1 + timepoint * treatment + (1 + timepoint | therapist)"/>
          <p:cNvSpPr txBox="1"/>
          <p:nvPr/>
        </p:nvSpPr>
        <p:spPr>
          <a:xfrm>
            <a:off x="8156478" y="313209"/>
            <a:ext cx="15811729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depression ~ 1 + timepoint * treatment + (1 + timepoint | therapist)</a:t>
            </a:r>
          </a:p>
        </p:txBody>
      </p:sp>
      <p:pic>
        <p:nvPicPr>
          <p:cNvPr id="56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67258" y="2553007"/>
            <a:ext cx="1433163" cy="1433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91787" y="6141418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68" name="Line"/>
          <p:cNvSpPr/>
          <p:nvPr/>
        </p:nvSpPr>
        <p:spPr>
          <a:xfrm>
            <a:off x="7464555" y="3910337"/>
            <a:ext cx="239478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9" name="Line"/>
          <p:cNvSpPr/>
          <p:nvPr/>
        </p:nvSpPr>
        <p:spPr>
          <a:xfrm flipV="1">
            <a:off x="7658914" y="6679359"/>
            <a:ext cx="2391592" cy="68102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70" name="Line"/>
          <p:cNvSpPr/>
          <p:nvPr/>
        </p:nvSpPr>
        <p:spPr>
          <a:xfrm>
            <a:off x="9115136" y="3177586"/>
            <a:ext cx="6985429" cy="5699540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71" name="Line"/>
          <p:cNvSpPr/>
          <p:nvPr/>
        </p:nvSpPr>
        <p:spPr>
          <a:xfrm>
            <a:off x="9115136" y="6077839"/>
            <a:ext cx="6985429" cy="3926651"/>
          </a:xfrm>
          <a:prstGeom prst="line">
            <a:avLst/>
          </a:prstGeom>
          <a:ln w="25400">
            <a:solidFill>
              <a:srgbClr val="CD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ounded Rectangle"/>
          <p:cNvSpPr/>
          <p:nvPr/>
        </p:nvSpPr>
        <p:spPr>
          <a:xfrm>
            <a:off x="4477323" y="3863989"/>
            <a:ext cx="15036514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4" name="Mixed ANOVA and MLM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Mixed ANOVA and MLMs</a:t>
            </a:r>
          </a:p>
        </p:txBody>
      </p:sp>
      <p:sp>
        <p:nvSpPr>
          <p:cNvPr id="57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6" name="Rounded Rectangle"/>
          <p:cNvSpPr/>
          <p:nvPr/>
        </p:nvSpPr>
        <p:spPr>
          <a:xfrm>
            <a:off x="4933794" y="6383205"/>
            <a:ext cx="14516412" cy="1020067"/>
          </a:xfrm>
          <a:prstGeom prst="roundRect">
            <a:avLst>
              <a:gd name="adj" fmla="val 50000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7" name="depression ~ 1 + timepoint * treatment + (1 | participant)"/>
          <p:cNvSpPr txBox="1"/>
          <p:nvPr/>
        </p:nvSpPr>
        <p:spPr>
          <a:xfrm>
            <a:off x="6117310" y="6563444"/>
            <a:ext cx="12149380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pPr/>
            <a:r>
              <a:t>depression ~ 1 + timepoint * treatment + (1 | participant)</a:t>
            </a:r>
          </a:p>
        </p:txBody>
      </p:sp>
      <p:sp>
        <p:nvSpPr>
          <p:cNvPr id="578" name="depression ~ timepoint * treatment + Error(participant / timepoint)"/>
          <p:cNvSpPr txBox="1"/>
          <p:nvPr/>
        </p:nvSpPr>
        <p:spPr>
          <a:xfrm>
            <a:off x="4015010" y="4044228"/>
            <a:ext cx="15961140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800"/>
            </a:lvl1pPr>
          </a:lstStyle>
          <a:p>
            <a:pPr/>
            <a:r>
              <a:t>depression ~ timepoint * treatment + Error(participant / timepoint)</a:t>
            </a:r>
          </a:p>
        </p:txBody>
      </p:sp>
      <p:sp>
        <p:nvSpPr>
          <p:cNvPr id="579" name="is equivalent to"/>
          <p:cNvSpPr txBox="1"/>
          <p:nvPr/>
        </p:nvSpPr>
        <p:spPr>
          <a:xfrm>
            <a:off x="10251135" y="5199956"/>
            <a:ext cx="3881730" cy="746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/>
            </a:lvl1pPr>
          </a:lstStyle>
          <a:p>
            <a:pPr/>
            <a:r>
              <a:t>is equivalent to</a:t>
            </a:r>
          </a:p>
        </p:txBody>
      </p:sp>
      <p:sp>
        <p:nvSpPr>
          <p:cNvPr id="580" name="Rounded Rectangle"/>
          <p:cNvSpPr/>
          <p:nvPr/>
        </p:nvSpPr>
        <p:spPr>
          <a:xfrm>
            <a:off x="6360594" y="8915121"/>
            <a:ext cx="11662812" cy="3432108"/>
          </a:xfrm>
          <a:prstGeom prst="roundRect">
            <a:avLst>
              <a:gd name="adj" fmla="val 3682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1" name="when:"/>
          <p:cNvSpPr txBox="1"/>
          <p:nvPr/>
        </p:nvSpPr>
        <p:spPr>
          <a:xfrm>
            <a:off x="11418760" y="7701894"/>
            <a:ext cx="1546480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when:</a:t>
            </a:r>
          </a:p>
        </p:txBody>
      </p:sp>
      <p:sp>
        <p:nvSpPr>
          <p:cNvPr id="582" name="There is no missing data…"/>
          <p:cNvSpPr txBox="1"/>
          <p:nvPr/>
        </p:nvSpPr>
        <p:spPr>
          <a:xfrm>
            <a:off x="7629012" y="9411599"/>
            <a:ext cx="9125976" cy="243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777875" indent="-777875" algn="ctr">
              <a:buSzPct val="100000"/>
              <a:buAutoNum type="arabicPeriod" startAt="1"/>
              <a:defRPr sz="4200"/>
            </a:pPr>
            <a:r>
              <a:t>There is no missing data</a:t>
            </a:r>
          </a:p>
          <a:p>
            <a:pPr marL="777875" indent="-777875" algn="ctr">
              <a:buSzPct val="100000"/>
              <a:buAutoNum type="arabicPeriod" startAt="1"/>
              <a:defRPr sz="4200"/>
            </a:pPr>
            <a:r>
              <a:t>There is no additional source of random variation (e.g., therapist)</a:t>
            </a:r>
          </a:p>
        </p:txBody>
      </p:sp>
      <p:sp>
        <p:nvSpPr>
          <p:cNvPr id="583" name="For the two-group, two-timepoint design,"/>
          <p:cNvSpPr txBox="1"/>
          <p:nvPr/>
        </p:nvSpPr>
        <p:spPr>
          <a:xfrm>
            <a:off x="7224903" y="2826423"/>
            <a:ext cx="9934195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For the two-group, two-timepoint design,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What difference does it make?"/>
          <p:cNvSpPr txBox="1"/>
          <p:nvPr>
            <p:ph type="title"/>
          </p:nvPr>
        </p:nvSpPr>
        <p:spPr>
          <a:xfrm>
            <a:off x="4600241" y="6141418"/>
            <a:ext cx="15183518" cy="1433164"/>
          </a:xfrm>
          <a:prstGeom prst="rect">
            <a:avLst/>
          </a:prstGeom>
        </p:spPr>
        <p:txBody>
          <a:bodyPr/>
          <a:lstStyle/>
          <a:p>
            <a:pPr/>
            <a:r>
              <a:t>What difference does it make?</a:t>
            </a:r>
          </a:p>
        </p:txBody>
      </p:sp>
      <p:sp>
        <p:nvSpPr>
          <p:cNvPr id="58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9" name="Let’s simulate some experiments and find out!"/>
          <p:cNvSpPr txBox="1"/>
          <p:nvPr/>
        </p:nvSpPr>
        <p:spPr>
          <a:xfrm>
            <a:off x="5873038" y="8567040"/>
            <a:ext cx="1263792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Let’s simulate some experiments and find out!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imulated Study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Simulated Study:</a:t>
            </a:r>
          </a:p>
        </p:txBody>
      </p:sp>
      <p:sp>
        <p:nvSpPr>
          <p:cNvPr id="592" name="Rounded Rectangle"/>
          <p:cNvSpPr/>
          <p:nvPr/>
        </p:nvSpPr>
        <p:spPr>
          <a:xfrm>
            <a:off x="175844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3" name="Depression Score (Baseline)"/>
          <p:cNvSpPr txBox="1"/>
          <p:nvPr/>
        </p:nvSpPr>
        <p:spPr>
          <a:xfrm>
            <a:off x="2416806" y="5744483"/>
            <a:ext cx="4381415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t>Depression Score (Baseline)</a:t>
            </a:r>
          </a:p>
        </p:txBody>
      </p:sp>
      <p:sp>
        <p:nvSpPr>
          <p:cNvPr id="594" name="Rounded Rectangle"/>
          <p:cNvSpPr/>
          <p:nvPr/>
        </p:nvSpPr>
        <p:spPr>
          <a:xfrm>
            <a:off x="16745198" y="5154129"/>
            <a:ext cx="5698131" cy="1679464"/>
          </a:xfrm>
          <a:prstGeom prst="roundRect">
            <a:avLst>
              <a:gd name="adj" fmla="val 12922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5" name="Line"/>
          <p:cNvSpPr/>
          <p:nvPr/>
        </p:nvSpPr>
        <p:spPr>
          <a:xfrm flipV="1">
            <a:off x="7463943" y="4583868"/>
            <a:ext cx="1789260" cy="140999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6" name="Line"/>
          <p:cNvSpPr/>
          <p:nvPr/>
        </p:nvSpPr>
        <p:spPr>
          <a:xfrm>
            <a:off x="7480467" y="5993860"/>
            <a:ext cx="1756504" cy="140845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59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86015" y="5084740"/>
            <a:ext cx="1433164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Rounded Rectangle"/>
          <p:cNvSpPr/>
          <p:nvPr/>
        </p:nvSpPr>
        <p:spPr>
          <a:xfrm>
            <a:off x="9619427" y="3930154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9" name="Rounded Rectangle"/>
          <p:cNvSpPr/>
          <p:nvPr/>
        </p:nvSpPr>
        <p:spPr>
          <a:xfrm>
            <a:off x="9619427" y="6891987"/>
            <a:ext cx="4381415" cy="1020067"/>
          </a:xfrm>
          <a:prstGeom prst="roundRect">
            <a:avLst>
              <a:gd name="adj" fmla="val 19210"/>
            </a:avLst>
          </a:prstGeom>
          <a:solidFill>
            <a:srgbClr val="F9E8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0" name="Line"/>
          <p:cNvSpPr/>
          <p:nvPr/>
        </p:nvSpPr>
        <p:spPr>
          <a:xfrm>
            <a:off x="14382450" y="4437332"/>
            <a:ext cx="2173152" cy="120371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1" name="Line"/>
          <p:cNvSpPr/>
          <p:nvPr/>
        </p:nvSpPr>
        <p:spPr>
          <a:xfrm flipV="1">
            <a:off x="14395826" y="6178105"/>
            <a:ext cx="2147757" cy="133281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2" name="Depression Score (Post-Treatment)"/>
          <p:cNvSpPr txBox="1"/>
          <p:nvPr/>
        </p:nvSpPr>
        <p:spPr>
          <a:xfrm>
            <a:off x="16927405" y="5744483"/>
            <a:ext cx="5431763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t>Depression Score (Post-Treatment)</a:t>
            </a:r>
          </a:p>
        </p:txBody>
      </p:sp>
      <p:sp>
        <p:nvSpPr>
          <p:cNvPr id="603" name="New Therapy (intervention)"/>
          <p:cNvSpPr txBox="1"/>
          <p:nvPr/>
        </p:nvSpPr>
        <p:spPr>
          <a:xfrm>
            <a:off x="9781030" y="7152643"/>
            <a:ext cx="4058209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t>New Therapy (intervention)</a:t>
            </a:r>
          </a:p>
        </p:txBody>
      </p:sp>
      <p:sp>
        <p:nvSpPr>
          <p:cNvPr id="604" name="Standard care (control)"/>
          <p:cNvSpPr txBox="1"/>
          <p:nvPr/>
        </p:nvSpPr>
        <p:spPr>
          <a:xfrm>
            <a:off x="10071110" y="4190809"/>
            <a:ext cx="3478049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t>Standard care (control)</a:t>
            </a:r>
          </a:p>
        </p:txBody>
      </p:sp>
      <p:sp>
        <p:nvSpPr>
          <p:cNvPr id="605" name="128 participants"/>
          <p:cNvSpPr txBox="1"/>
          <p:nvPr/>
        </p:nvSpPr>
        <p:spPr>
          <a:xfrm>
            <a:off x="2903072" y="4416285"/>
            <a:ext cx="3408884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128 participants</a:t>
            </a:r>
          </a:p>
        </p:txBody>
      </p:sp>
      <p:sp>
        <p:nvSpPr>
          <p:cNvPr id="606" name="64 participants"/>
          <p:cNvSpPr txBox="1"/>
          <p:nvPr/>
        </p:nvSpPr>
        <p:spPr>
          <a:xfrm>
            <a:off x="10105693" y="3285915"/>
            <a:ext cx="3154681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64 participants</a:t>
            </a:r>
          </a:p>
        </p:txBody>
      </p:sp>
      <p:sp>
        <p:nvSpPr>
          <p:cNvPr id="607" name="64 participants"/>
          <p:cNvSpPr txBox="1"/>
          <p:nvPr/>
        </p:nvSpPr>
        <p:spPr>
          <a:xfrm>
            <a:off x="10105693" y="7881070"/>
            <a:ext cx="3154681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64 participants</a:t>
            </a:r>
          </a:p>
        </p:txBody>
      </p:sp>
      <p:sp>
        <p:nvSpPr>
          <p:cNvPr id="608" name="128 participants"/>
          <p:cNvSpPr txBox="1"/>
          <p:nvPr/>
        </p:nvSpPr>
        <p:spPr>
          <a:xfrm>
            <a:off x="17938844" y="4416285"/>
            <a:ext cx="3408884" cy="6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128 participants</a:t>
            </a:r>
          </a:p>
        </p:txBody>
      </p:sp>
      <p:sp>
        <p:nvSpPr>
          <p:cNvPr id="609" name="Line"/>
          <p:cNvSpPr/>
          <p:nvPr/>
        </p:nvSpPr>
        <p:spPr>
          <a:xfrm>
            <a:off x="13729905" y="7807342"/>
            <a:ext cx="4055522" cy="83124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0" name="Delivered by one of 4 therapists"/>
          <p:cNvSpPr txBox="1"/>
          <p:nvPr/>
        </p:nvSpPr>
        <p:spPr>
          <a:xfrm>
            <a:off x="14913936" y="1891492"/>
            <a:ext cx="7662444" cy="72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Delivered by one of 4 therapists</a:t>
            </a:r>
          </a:p>
        </p:txBody>
      </p:sp>
      <p:sp>
        <p:nvSpPr>
          <p:cNvPr id="611" name="Delivered by one of 4 therapists"/>
          <p:cNvSpPr txBox="1"/>
          <p:nvPr/>
        </p:nvSpPr>
        <p:spPr>
          <a:xfrm>
            <a:off x="14913936" y="8795326"/>
            <a:ext cx="7662444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Delivered by one of 4 therapists</a:t>
            </a:r>
          </a:p>
        </p:txBody>
      </p:sp>
      <p:sp>
        <p:nvSpPr>
          <p:cNvPr id="612" name="Line"/>
          <p:cNvSpPr/>
          <p:nvPr/>
        </p:nvSpPr>
        <p:spPr>
          <a:xfrm flipV="1">
            <a:off x="13730213" y="2934160"/>
            <a:ext cx="4055589" cy="106740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In our simulation, we run this study 20’000 times, with the following ground truths:"/>
          <p:cNvSpPr txBox="1"/>
          <p:nvPr/>
        </p:nvSpPr>
        <p:spPr>
          <a:xfrm>
            <a:off x="1951264" y="3833078"/>
            <a:ext cx="2048147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4000"/>
            </a:lvl1pPr>
          </a:lstStyle>
          <a:p>
            <a:pPr/>
            <a:r>
              <a:t>In our simulation, we run this study 20’000 times, with the following ground truths:</a:t>
            </a:r>
          </a:p>
        </p:txBody>
      </p:sp>
      <p:sp>
        <p:nvSpPr>
          <p:cNvPr id="61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9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Rounded Rectangle"/>
          <p:cNvSpPr/>
          <p:nvPr/>
        </p:nvSpPr>
        <p:spPr>
          <a:xfrm>
            <a:off x="1794647" y="5496350"/>
            <a:ext cx="20794706" cy="5760320"/>
          </a:xfrm>
          <a:prstGeom prst="roundRect">
            <a:avLst>
              <a:gd name="adj" fmla="val 2236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4" name="There is a true random slope effect for therapist."/>
          <p:cNvSpPr txBox="1"/>
          <p:nvPr/>
        </p:nvSpPr>
        <p:spPr>
          <a:xfrm>
            <a:off x="3925066" y="9575181"/>
            <a:ext cx="16533868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There is a </a:t>
            </a:r>
            <a:r>
              <a:rPr b="1"/>
              <a:t>true random slope effect</a:t>
            </a:r>
            <a:r>
              <a:t> for therapist.</a:t>
            </a:r>
          </a:p>
        </p:txBody>
      </p:sp>
      <p:sp>
        <p:nvSpPr>
          <p:cNvPr id="625" name="There is a true random intercept effect for participants."/>
          <p:cNvSpPr txBox="1"/>
          <p:nvPr/>
        </p:nvSpPr>
        <p:spPr>
          <a:xfrm>
            <a:off x="2229781" y="7802853"/>
            <a:ext cx="1992443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There is a </a:t>
            </a:r>
            <a:r>
              <a:rPr b="1"/>
              <a:t>true random intercept effect</a:t>
            </a:r>
            <a:r>
              <a:t> for participants.</a:t>
            </a:r>
          </a:p>
        </p:txBody>
      </p:sp>
      <p:sp>
        <p:nvSpPr>
          <p:cNvPr id="62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7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  <p:sp>
        <p:nvSpPr>
          <p:cNvPr id="628" name="Our two interventions (new therapy and standard care) have the same effect on depression (5 point reduction)."/>
          <p:cNvSpPr txBox="1"/>
          <p:nvPr/>
        </p:nvSpPr>
        <p:spPr>
          <a:xfrm>
            <a:off x="4902436" y="5864799"/>
            <a:ext cx="14579128" cy="1259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Our two interventions (new therapy and standard care) have the </a:t>
            </a:r>
            <a:r>
              <a:rPr b="1"/>
              <a:t>same effect on depression</a:t>
            </a:r>
            <a:r>
              <a:t> (5 point reduction).</a:t>
            </a:r>
          </a:p>
        </p:txBody>
      </p:sp>
      <p:sp>
        <p:nvSpPr>
          <p:cNvPr id="629" name="In our simulation, we run this study 20’000 times, with the following ground truths:"/>
          <p:cNvSpPr txBox="1"/>
          <p:nvPr/>
        </p:nvSpPr>
        <p:spPr>
          <a:xfrm>
            <a:off x="1951264" y="3833078"/>
            <a:ext cx="2048147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4000"/>
            </a:lvl1pPr>
          </a:lstStyle>
          <a:p>
            <a:pPr/>
            <a:r>
              <a:t>In our simulation, we run this study 20’000 times, with the following ground truths: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2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  <p:sp>
        <p:nvSpPr>
          <p:cNvPr id="633" name="Rounded Rectangle"/>
          <p:cNvSpPr/>
          <p:nvPr/>
        </p:nvSpPr>
        <p:spPr>
          <a:xfrm>
            <a:off x="4761857" y="2777381"/>
            <a:ext cx="14860286" cy="3387092"/>
          </a:xfrm>
          <a:prstGeom prst="roundRect">
            <a:avLst>
              <a:gd name="adj" fmla="val 7586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4" name="We know in our simulation that the true interaction effect is zero.…"/>
          <p:cNvSpPr txBox="1"/>
          <p:nvPr/>
        </p:nvSpPr>
        <p:spPr>
          <a:xfrm>
            <a:off x="6019967" y="2999760"/>
            <a:ext cx="12692718" cy="294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We know in our simulation that the true interaction effect is zero. </a:t>
            </a:r>
          </a:p>
          <a:p>
            <a:pPr algn="ctr">
              <a:defRPr sz="4000"/>
            </a:pPr>
            <a:r>
              <a:rPr b="1"/>
              <a:t>How often should we expect to see p &lt; .05 for the interaction effect?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7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  <p:sp>
        <p:nvSpPr>
          <p:cNvPr id="638" name="5% of cases (i.e., alpha)"/>
          <p:cNvSpPr txBox="1"/>
          <p:nvPr/>
        </p:nvSpPr>
        <p:spPr>
          <a:xfrm>
            <a:off x="8613190" y="6896802"/>
            <a:ext cx="7157620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5% of cases (i.e., alpha) </a:t>
            </a:r>
          </a:p>
        </p:txBody>
      </p:sp>
      <p:sp>
        <p:nvSpPr>
          <p:cNvPr id="639" name="Rounded Rectangle"/>
          <p:cNvSpPr/>
          <p:nvPr/>
        </p:nvSpPr>
        <p:spPr>
          <a:xfrm>
            <a:off x="4761857" y="2777381"/>
            <a:ext cx="14860286" cy="3387092"/>
          </a:xfrm>
          <a:prstGeom prst="roundRect">
            <a:avLst>
              <a:gd name="adj" fmla="val 7586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0" name="We know in our simulation that the true interaction effect is zero.…"/>
          <p:cNvSpPr txBox="1"/>
          <p:nvPr/>
        </p:nvSpPr>
        <p:spPr>
          <a:xfrm>
            <a:off x="6019967" y="2999760"/>
            <a:ext cx="12692718" cy="294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We know in our simulation that the true interaction effect is zero. </a:t>
            </a:r>
          </a:p>
          <a:p>
            <a:pPr algn="ctr">
              <a:defRPr sz="4000"/>
            </a:pPr>
            <a:r>
              <a:rPr b="1"/>
              <a:t>How often should we expect to see p &lt; .05 for the interaction effect?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3" name="p-value distribution under null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p-value distribution under null</a:t>
            </a:r>
          </a:p>
        </p:txBody>
      </p:sp>
      <p:sp>
        <p:nvSpPr>
          <p:cNvPr id="644" name="Covered more in Lesson 9"/>
          <p:cNvSpPr txBox="1"/>
          <p:nvPr/>
        </p:nvSpPr>
        <p:spPr>
          <a:xfrm>
            <a:off x="19411653" y="12981710"/>
            <a:ext cx="4977975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100"/>
            </a:lvl1pPr>
          </a:lstStyle>
          <a:p>
            <a:pPr/>
            <a:r>
              <a:t>Covered more in Lesson 9</a:t>
            </a:r>
          </a:p>
        </p:txBody>
      </p:sp>
      <p:pic>
        <p:nvPicPr>
          <p:cNvPr id="64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01373" y="2837500"/>
            <a:ext cx="20581254" cy="93994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50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  <p:sp>
        <p:nvSpPr>
          <p:cNvPr id="651" name="Rounded Rectangle"/>
          <p:cNvSpPr/>
          <p:nvPr/>
        </p:nvSpPr>
        <p:spPr>
          <a:xfrm>
            <a:off x="10252385" y="5589797"/>
            <a:ext cx="13127162" cy="1455021"/>
          </a:xfrm>
          <a:prstGeom prst="roundRect">
            <a:avLst>
              <a:gd name="adj" fmla="val 17658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2" name="We analyse our 20’000 simulated trials with 3 models:"/>
          <p:cNvSpPr txBox="1"/>
          <p:nvPr/>
        </p:nvSpPr>
        <p:spPr>
          <a:xfrm>
            <a:off x="6199591" y="3493754"/>
            <a:ext cx="12692719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/>
            </a:lvl1pPr>
          </a:lstStyle>
          <a:p>
            <a:pPr/>
            <a:r>
              <a:t>We analyse our 20’000 simulated trials with 3 models:</a:t>
            </a:r>
          </a:p>
        </p:txBody>
      </p:sp>
      <p:sp>
        <p:nvSpPr>
          <p:cNvPr id="653" name="1. Mixed ANOVA:"/>
          <p:cNvSpPr txBox="1"/>
          <p:nvPr/>
        </p:nvSpPr>
        <p:spPr>
          <a:xfrm>
            <a:off x="1787220" y="5962725"/>
            <a:ext cx="433374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1. Mixed ANOVA: </a:t>
            </a:r>
          </a:p>
        </p:txBody>
      </p:sp>
      <p:sp>
        <p:nvSpPr>
          <p:cNvPr id="654" name="depression ~ timepoint * treatment + Error(participant / timepoint)"/>
          <p:cNvSpPr txBox="1"/>
          <p:nvPr/>
        </p:nvSpPr>
        <p:spPr>
          <a:xfrm>
            <a:off x="11553486" y="6055586"/>
            <a:ext cx="10524959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/>
            </a:lvl1pPr>
          </a:lstStyle>
          <a:p>
            <a:pPr/>
            <a:r>
              <a:t>depression ~ timepoint * treatment + Error(participant / timepoint)</a:t>
            </a:r>
          </a:p>
        </p:txBody>
      </p:sp>
      <p:sp>
        <p:nvSpPr>
          <p:cNvPr id="655" name="Rounded Rectangle"/>
          <p:cNvSpPr/>
          <p:nvPr/>
        </p:nvSpPr>
        <p:spPr>
          <a:xfrm>
            <a:off x="10252385" y="7648999"/>
            <a:ext cx="13127162" cy="1455022"/>
          </a:xfrm>
          <a:prstGeom prst="roundRect">
            <a:avLst>
              <a:gd name="adj" fmla="val 17658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6" name="Rounded Rectangle"/>
          <p:cNvSpPr/>
          <p:nvPr/>
        </p:nvSpPr>
        <p:spPr>
          <a:xfrm>
            <a:off x="10252384" y="9708202"/>
            <a:ext cx="13127163" cy="1455021"/>
          </a:xfrm>
          <a:prstGeom prst="roundRect">
            <a:avLst>
              <a:gd name="adj" fmla="val 17658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7" name="depression ~ timepoint * treatment + (1 | participant) + (1 | therapist)"/>
          <p:cNvSpPr txBox="1"/>
          <p:nvPr/>
        </p:nvSpPr>
        <p:spPr>
          <a:xfrm>
            <a:off x="11362986" y="8114788"/>
            <a:ext cx="10905960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/>
            </a:lvl1pPr>
          </a:lstStyle>
          <a:p>
            <a:pPr/>
            <a:r>
              <a:t>depression ~ timepoint * treatment + (1 | participant) + (1 | therapist)</a:t>
            </a:r>
          </a:p>
        </p:txBody>
      </p:sp>
      <p:sp>
        <p:nvSpPr>
          <p:cNvPr id="658" name="depression ~ timepoint * treatment + (1 | participant) + (1 + timepoint | therapist)"/>
          <p:cNvSpPr txBox="1"/>
          <p:nvPr/>
        </p:nvSpPr>
        <p:spPr>
          <a:xfrm>
            <a:off x="10442878" y="10173990"/>
            <a:ext cx="1274617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800"/>
            </a:lvl1pPr>
          </a:lstStyle>
          <a:p>
            <a:pPr/>
            <a:r>
              <a:t>depression ~ timepoint * treatment + (1 | participant) + (1 + timepoint | therapist)</a:t>
            </a:r>
          </a:p>
        </p:txBody>
      </p:sp>
      <p:sp>
        <p:nvSpPr>
          <p:cNvPr id="659" name="2. Multilevel model with random therapist intercept:"/>
          <p:cNvSpPr txBox="1"/>
          <p:nvPr/>
        </p:nvSpPr>
        <p:spPr>
          <a:xfrm>
            <a:off x="1718406" y="7800817"/>
            <a:ext cx="7062423" cy="1151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/>
            </a:lvl1pPr>
          </a:lstStyle>
          <a:p>
            <a:pPr/>
            <a:r>
              <a:t>2. Multilevel model with random therapist intercept: </a:t>
            </a:r>
          </a:p>
        </p:txBody>
      </p:sp>
      <p:sp>
        <p:nvSpPr>
          <p:cNvPr id="660" name="3. Multilevel model with random therapist intercept and slope:"/>
          <p:cNvSpPr txBox="1"/>
          <p:nvPr/>
        </p:nvSpPr>
        <p:spPr>
          <a:xfrm>
            <a:off x="1712354" y="9860020"/>
            <a:ext cx="7497276" cy="1151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/>
            </a:lvl1pPr>
          </a:lstStyle>
          <a:p>
            <a:pPr/>
            <a:r>
              <a:t>3. Multilevel model with random therapist intercept and slope: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6096" y="2958871"/>
            <a:ext cx="17531808" cy="10011398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4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  <p:sp>
        <p:nvSpPr>
          <p:cNvPr id="665" name="Rectangle"/>
          <p:cNvSpPr/>
          <p:nvPr/>
        </p:nvSpPr>
        <p:spPr>
          <a:xfrm>
            <a:off x="9962834" y="2651142"/>
            <a:ext cx="11044089" cy="97092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6" name="Type I error = 31.9%"/>
          <p:cNvSpPr txBox="1"/>
          <p:nvPr/>
        </p:nvSpPr>
        <p:spPr>
          <a:xfrm>
            <a:off x="6007798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Type I error = 31.9%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26096" y="2958871"/>
            <a:ext cx="17531808" cy="10011398"/>
          </a:xfrm>
          <a:prstGeom prst="rect">
            <a:avLst/>
          </a:prstGeom>
          <a:ln w="12700">
            <a:miter lim="400000"/>
          </a:ln>
        </p:spPr>
      </p:pic>
      <p:sp>
        <p:nvSpPr>
          <p:cNvPr id="6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70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  <p:sp>
        <p:nvSpPr>
          <p:cNvPr id="671" name="Rectangle"/>
          <p:cNvSpPr/>
          <p:nvPr/>
        </p:nvSpPr>
        <p:spPr>
          <a:xfrm>
            <a:off x="15475489" y="2473342"/>
            <a:ext cx="8812157" cy="103283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2" name="Type I error = 31.9%"/>
          <p:cNvSpPr txBox="1"/>
          <p:nvPr/>
        </p:nvSpPr>
        <p:spPr>
          <a:xfrm>
            <a:off x="6007798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Type I error = 31.9%</a:t>
            </a:r>
          </a:p>
        </p:txBody>
      </p:sp>
      <p:sp>
        <p:nvSpPr>
          <p:cNvPr id="673" name="Type I error = 31.9%"/>
          <p:cNvSpPr txBox="1"/>
          <p:nvPr/>
        </p:nvSpPr>
        <p:spPr>
          <a:xfrm>
            <a:off x="11119372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Type I error = 31.9%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6096" y="2958871"/>
            <a:ext cx="17531808" cy="10011398"/>
          </a:xfrm>
          <a:prstGeom prst="rect">
            <a:avLst/>
          </a:prstGeom>
          <a:ln w="12700">
            <a:miter lim="400000"/>
          </a:ln>
        </p:spPr>
      </p:pic>
      <p:sp>
        <p:nvSpPr>
          <p:cNvPr id="67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79" name="Our Simulation: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Our Simulation:</a:t>
            </a:r>
          </a:p>
        </p:txBody>
      </p:sp>
      <p:sp>
        <p:nvSpPr>
          <p:cNvPr id="680" name="Type I error = 4.7%"/>
          <p:cNvSpPr txBox="1"/>
          <p:nvPr/>
        </p:nvSpPr>
        <p:spPr>
          <a:xfrm>
            <a:off x="16685753" y="4196861"/>
            <a:ext cx="3370327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Type I error = 4.7%</a:t>
            </a:r>
          </a:p>
        </p:txBody>
      </p:sp>
      <p:sp>
        <p:nvSpPr>
          <p:cNvPr id="681" name="Type I error = 31.9%"/>
          <p:cNvSpPr txBox="1"/>
          <p:nvPr/>
        </p:nvSpPr>
        <p:spPr>
          <a:xfrm>
            <a:off x="6007798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Type I error = 31.9%</a:t>
            </a:r>
          </a:p>
        </p:txBody>
      </p:sp>
      <p:sp>
        <p:nvSpPr>
          <p:cNvPr id="682" name="Type I error = 31.9%"/>
          <p:cNvSpPr txBox="1"/>
          <p:nvPr/>
        </p:nvSpPr>
        <p:spPr>
          <a:xfrm>
            <a:off x="11119372" y="4196861"/>
            <a:ext cx="3582163" cy="5481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Type I error = 31.9%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So when can we use ANOVA?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So when can we use ANOVA?</a:t>
            </a:r>
          </a:p>
        </p:txBody>
      </p:sp>
      <p:sp>
        <p:nvSpPr>
          <p:cNvPr id="685" name="Rounded Rectangle"/>
          <p:cNvSpPr/>
          <p:nvPr/>
        </p:nvSpPr>
        <p:spPr>
          <a:xfrm>
            <a:off x="1575863" y="3458930"/>
            <a:ext cx="12928349" cy="1791797"/>
          </a:xfrm>
          <a:prstGeom prst="roundRect">
            <a:avLst>
              <a:gd name="adj" fmla="val 50000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6" name="Rounded Rectangle"/>
          <p:cNvSpPr/>
          <p:nvPr/>
        </p:nvSpPr>
        <p:spPr>
          <a:xfrm>
            <a:off x="11128157" y="6595955"/>
            <a:ext cx="12953749" cy="1817197"/>
          </a:xfrm>
          <a:prstGeom prst="roundRect">
            <a:avLst>
              <a:gd name="adj" fmla="val 43029"/>
            </a:avLst>
          </a:prstGeom>
          <a:solidFill>
            <a:srgbClr val="FFF2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7" name="Rounded Rectangle"/>
          <p:cNvSpPr/>
          <p:nvPr/>
        </p:nvSpPr>
        <p:spPr>
          <a:xfrm>
            <a:off x="1575863" y="9758380"/>
            <a:ext cx="12928349" cy="1791797"/>
          </a:xfrm>
          <a:prstGeom prst="roundRect">
            <a:avLst>
              <a:gd name="adj" fmla="val 47304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8" name="When the design is balanced and genuinely simple"/>
          <p:cNvSpPr txBox="1"/>
          <p:nvPr/>
        </p:nvSpPr>
        <p:spPr>
          <a:xfrm>
            <a:off x="3935808" y="3628065"/>
            <a:ext cx="8208459" cy="2686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t>When the design is balanced and genuinely simple</a:t>
            </a:r>
          </a:p>
        </p:txBody>
      </p:sp>
      <p:sp>
        <p:nvSpPr>
          <p:cNvPr id="689" name="When our data is too sparse to meaningfully measure random effects"/>
          <p:cNvSpPr txBox="1"/>
          <p:nvPr/>
        </p:nvSpPr>
        <p:spPr>
          <a:xfrm>
            <a:off x="12083932" y="6787397"/>
            <a:ext cx="11042199" cy="2686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/>
          </a:lstStyle>
          <a:p>
            <a:pPr/>
            <a:r>
              <a:t>When our data is too sparse to meaningfully measure random effects</a:t>
            </a:r>
          </a:p>
        </p:txBody>
      </p:sp>
      <p:sp>
        <p:nvSpPr>
          <p:cNvPr id="690" name="But ANCOVA is better (next week)"/>
          <p:cNvSpPr txBox="1"/>
          <p:nvPr/>
        </p:nvSpPr>
        <p:spPr>
          <a:xfrm>
            <a:off x="3069392" y="10249018"/>
            <a:ext cx="9941290" cy="2056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/>
            </a:lvl1pPr>
          </a:lstStyle>
          <a:p>
            <a:pPr/>
            <a:r>
              <a:t>But ANCOVA is better (next week)</a:t>
            </a:r>
          </a:p>
        </p:txBody>
      </p:sp>
      <p:sp>
        <p:nvSpPr>
          <p:cNvPr id="69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ummary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694" name="Rounded Rectangle"/>
          <p:cNvSpPr/>
          <p:nvPr/>
        </p:nvSpPr>
        <p:spPr>
          <a:xfrm>
            <a:off x="2822268" y="6068816"/>
            <a:ext cx="18739464" cy="202129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5" name="Rounded Rectangle"/>
          <p:cNvSpPr/>
          <p:nvPr/>
        </p:nvSpPr>
        <p:spPr>
          <a:xfrm>
            <a:off x="2822268" y="9184063"/>
            <a:ext cx="18739464" cy="2220984"/>
          </a:xfrm>
          <a:prstGeom prst="roundRect">
            <a:avLst>
              <a:gd name="adj" fmla="val 38163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6" name="Rounded Rectangle"/>
          <p:cNvSpPr/>
          <p:nvPr/>
        </p:nvSpPr>
        <p:spPr>
          <a:xfrm>
            <a:off x="2822268" y="3567105"/>
            <a:ext cx="18739464" cy="1407764"/>
          </a:xfrm>
          <a:prstGeom prst="roundRect">
            <a:avLst>
              <a:gd name="adj" fmla="val 50000"/>
            </a:avLst>
          </a:prstGeom>
          <a:solidFill>
            <a:srgbClr val="3FAF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7" name="Mixed ANOVA ignores clustering which can frequently occur in RCT data collection"/>
          <p:cNvSpPr txBox="1"/>
          <p:nvPr/>
        </p:nvSpPr>
        <p:spPr>
          <a:xfrm>
            <a:off x="5656894" y="3641726"/>
            <a:ext cx="13070212" cy="125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Mixed ANOVA</a:t>
            </a:r>
            <a:r>
              <a:rPr b="1"/>
              <a:t> ignores clustering</a:t>
            </a:r>
            <a:r>
              <a:t> which can frequently occur in RCT data collection</a:t>
            </a:r>
          </a:p>
        </p:txBody>
      </p:sp>
      <p:sp>
        <p:nvSpPr>
          <p:cNvPr id="698" name="Multilevel models are much more flexible and can therefore much more easily represent a more accurate model of the world"/>
          <p:cNvSpPr txBox="1"/>
          <p:nvPr/>
        </p:nvSpPr>
        <p:spPr>
          <a:xfrm>
            <a:off x="3336512" y="6444111"/>
            <a:ext cx="16977041" cy="127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Multilevel models are </a:t>
            </a:r>
            <a:r>
              <a:rPr b="1"/>
              <a:t>much more flexible</a:t>
            </a:r>
            <a:r>
              <a:t> and can therefore much more easily represent </a:t>
            </a:r>
            <a:r>
              <a:rPr b="1"/>
              <a:t>a more accurate model</a:t>
            </a:r>
            <a:r>
              <a:t> of the world</a:t>
            </a:r>
          </a:p>
        </p:txBody>
      </p:sp>
      <p:sp>
        <p:nvSpPr>
          <p:cNvPr id="699" name="Models that do not account for important clustering, including mixed ANOVA, can lead to increased Type I error rates"/>
          <p:cNvSpPr txBox="1"/>
          <p:nvPr/>
        </p:nvSpPr>
        <p:spPr>
          <a:xfrm>
            <a:off x="3246700" y="9664941"/>
            <a:ext cx="17516002" cy="1259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Models that do not account for important clustering, including mixed ANOVA, can lead to </a:t>
            </a:r>
            <a:r>
              <a:rPr b="1"/>
              <a:t>increased Type I error rates</a:t>
            </a:r>
          </a:p>
        </p:txBody>
      </p:sp>
      <p:sp>
        <p:nvSpPr>
          <p:cNvPr id="70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ractice Exam Questions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Practice Exam Questions</a:t>
            </a:r>
          </a:p>
        </p:txBody>
      </p:sp>
      <p:sp>
        <p:nvSpPr>
          <p:cNvPr id="70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0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30822" y="-622891"/>
            <a:ext cx="13665484" cy="141110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414652" y="131783"/>
            <a:ext cx="7833063" cy="134524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Screenshot 2026-05-04 at 21.57.38.png" descr="Screenshot 2026-05-04 at 21.57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6203" y="2777761"/>
            <a:ext cx="23385786" cy="8775568"/>
          </a:xfrm>
          <a:prstGeom prst="rect">
            <a:avLst/>
          </a:prstGeom>
          <a:ln w="12700">
            <a:miter lim="400000"/>
          </a:ln>
        </p:spPr>
      </p:pic>
      <p:sp>
        <p:nvSpPr>
          <p:cNvPr id="712" name="Revision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Revision</a:t>
            </a:r>
          </a:p>
        </p:txBody>
      </p:sp>
      <p:sp>
        <p:nvSpPr>
          <p:cNvPr id="71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14" name="https://jamiecummins.shinyapps.io/comparing-anova-and-mlms/"/>
          <p:cNvSpPr txBox="1"/>
          <p:nvPr/>
        </p:nvSpPr>
        <p:spPr>
          <a:xfrm>
            <a:off x="123323" y="12994233"/>
            <a:ext cx="1127302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B90BF"/>
                </a:solidFill>
              </a:defRPr>
            </a:pPr>
            <a:r>
              <a:rPr>
                <a:solidFill>
                  <a:srgbClr val="626262"/>
                </a:solidFill>
              </a:rPr>
              <a:t> </a:t>
            </a:r>
            <a:r>
              <a:rPr u="sng">
                <a:hlinkClick r:id="rId3" invalidUrl="" action="" tgtFrame="" tooltip="" history="1" highlightClick="0" endSnd="0"/>
              </a:rPr>
              <a:t>https://jamiecummins.shinyapps.io/comparing-anova-and-mlms/</a:t>
            </a:r>
          </a:p>
        </p:txBody>
      </p:sp>
      <p:pic>
        <p:nvPicPr>
          <p:cNvPr id="71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64078" y="10496943"/>
            <a:ext cx="2828522" cy="2828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Rounded Rectangle"/>
          <p:cNvSpPr/>
          <p:nvPr/>
        </p:nvSpPr>
        <p:spPr>
          <a:xfrm>
            <a:off x="1327299" y="3758572"/>
            <a:ext cx="13364066" cy="6198856"/>
          </a:xfrm>
          <a:prstGeom prst="roundRect">
            <a:avLst>
              <a:gd name="adj" fmla="val 22662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8" name="Reading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Reading</a:t>
            </a:r>
          </a:p>
        </p:txBody>
      </p:sp>
      <p:sp>
        <p:nvSpPr>
          <p:cNvPr id="719" name="Chapter 12 (‘Estimation’) of the Monte Carlo Simulation textbook (Hussey &amp; Cummins, 2026)"/>
          <p:cNvSpPr txBox="1"/>
          <p:nvPr/>
        </p:nvSpPr>
        <p:spPr>
          <a:xfrm>
            <a:off x="3128911" y="5392383"/>
            <a:ext cx="9857408" cy="180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rPr b="1"/>
              <a:t>Chapter 12</a:t>
            </a:r>
            <a:r>
              <a:t> (‘Estimation’) of the Monte Carlo Simulation textbook (Hussey &amp; Cummins, 2026)</a:t>
            </a:r>
          </a:p>
        </p:txBody>
      </p:sp>
      <p:pic>
        <p:nvPicPr>
          <p:cNvPr id="720" name="Screenshot 2026-04-26 at 17.03.37.png" descr="Screenshot 2026-04-26 at 17.03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68563" y="1862031"/>
            <a:ext cx="6994358" cy="9991938"/>
          </a:xfrm>
          <a:prstGeom prst="rect">
            <a:avLst/>
          </a:prstGeom>
          <a:ln w="12700">
            <a:miter lim="400000"/>
          </a:ln>
        </p:spPr>
      </p:pic>
      <p:sp>
        <p:nvSpPr>
          <p:cNvPr id="721" name="simulations.tidyver.se"/>
          <p:cNvSpPr txBox="1"/>
          <p:nvPr/>
        </p:nvSpPr>
        <p:spPr>
          <a:xfrm>
            <a:off x="3128911" y="8430931"/>
            <a:ext cx="9857408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 u="sng"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simulations.tidyver.se</a:t>
            </a:r>
          </a:p>
        </p:txBody>
      </p:sp>
      <p:sp>
        <p:nvSpPr>
          <p:cNvPr id="72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Rounded Rectangle"/>
          <p:cNvSpPr/>
          <p:nvPr/>
        </p:nvSpPr>
        <p:spPr>
          <a:xfrm>
            <a:off x="3653688" y="6419726"/>
            <a:ext cx="20561843" cy="275713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5" name="Next Week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Next Week</a:t>
            </a:r>
          </a:p>
        </p:txBody>
      </p:sp>
      <p:sp>
        <p:nvSpPr>
          <p:cNvPr id="726" name="Rounded Rectangle"/>
          <p:cNvSpPr/>
          <p:nvPr/>
        </p:nvSpPr>
        <p:spPr>
          <a:xfrm>
            <a:off x="1119953" y="3048611"/>
            <a:ext cx="18372684" cy="2552226"/>
          </a:xfrm>
          <a:prstGeom prst="roundRect">
            <a:avLst>
              <a:gd name="adj" fmla="val 370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7" name="How to know which random effects to include in our models"/>
          <p:cNvSpPr txBox="1"/>
          <p:nvPr/>
        </p:nvSpPr>
        <p:spPr>
          <a:xfrm>
            <a:off x="6227342" y="7443713"/>
            <a:ext cx="1541453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How to know </a:t>
            </a:r>
            <a:r>
              <a:rPr b="1"/>
              <a:t>which random effects</a:t>
            </a:r>
            <a:r>
              <a:t> to include in our models</a:t>
            </a:r>
          </a:p>
        </p:txBody>
      </p:sp>
      <p:sp>
        <p:nvSpPr>
          <p:cNvPr id="728" name="Examine impact of mixed ANOVA vs. ANCOVA for modeling RCT data"/>
          <p:cNvSpPr txBox="1"/>
          <p:nvPr/>
        </p:nvSpPr>
        <p:spPr>
          <a:xfrm>
            <a:off x="2065549" y="3970141"/>
            <a:ext cx="16481493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b="1" sz="4000"/>
            </a:pPr>
            <a:r>
              <a:rPr b="0"/>
              <a:t>Examine impact of </a:t>
            </a:r>
            <a:r>
              <a:t>mixed ANOVA vs. ANCOVA </a:t>
            </a:r>
            <a:r>
              <a:rPr b="0"/>
              <a:t>for modeling RCT data</a:t>
            </a:r>
          </a:p>
        </p:txBody>
      </p:sp>
      <p:sp>
        <p:nvSpPr>
          <p:cNvPr id="729" name="Rounded Rectangle"/>
          <p:cNvSpPr/>
          <p:nvPr/>
        </p:nvSpPr>
        <p:spPr>
          <a:xfrm>
            <a:off x="1226261" y="9976401"/>
            <a:ext cx="16870948" cy="2590934"/>
          </a:xfrm>
          <a:prstGeom prst="roundRect">
            <a:avLst>
              <a:gd name="adj" fmla="val 4964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0" name="Introduce the idea of good and bad controls from a causal inference perspective"/>
          <p:cNvSpPr txBox="1"/>
          <p:nvPr/>
        </p:nvSpPr>
        <p:spPr>
          <a:xfrm>
            <a:off x="2696645" y="10636513"/>
            <a:ext cx="13930180" cy="127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Introduce the idea of </a:t>
            </a:r>
            <a:r>
              <a:rPr b="1"/>
              <a:t>good and bad controls </a:t>
            </a:r>
            <a:r>
              <a:t>from a </a:t>
            </a:r>
            <a:r>
              <a:rPr b="1"/>
              <a:t>causal inference</a:t>
            </a:r>
            <a:r>
              <a:t> perspective</a:t>
            </a:r>
          </a:p>
        </p:txBody>
      </p:sp>
      <p:sp>
        <p:nvSpPr>
          <p:cNvPr id="73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Rounded Rectangle"/>
          <p:cNvSpPr/>
          <p:nvPr/>
        </p:nvSpPr>
        <p:spPr>
          <a:xfrm>
            <a:off x="3653688" y="6419726"/>
            <a:ext cx="20561843" cy="2757139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25400">
            <a:solidFill>
              <a:srgbClr val="E8D7A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4" name="Thank You!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Thank You!</a:t>
            </a:r>
          </a:p>
        </p:txBody>
      </p:sp>
      <p:sp>
        <p:nvSpPr>
          <p:cNvPr id="735" name="Rounded Rectangle"/>
          <p:cNvSpPr/>
          <p:nvPr/>
        </p:nvSpPr>
        <p:spPr>
          <a:xfrm>
            <a:off x="1119953" y="3048611"/>
            <a:ext cx="18372684" cy="2552226"/>
          </a:xfrm>
          <a:prstGeom prst="roundRect">
            <a:avLst>
              <a:gd name="adj" fmla="val 37014"/>
            </a:avLst>
          </a:prstGeom>
          <a:solidFill>
            <a:srgbClr val="3F6E9F">
              <a:alpha val="12673"/>
            </a:srgbClr>
          </a:solidFill>
          <a:ln w="25400">
            <a:solidFill>
              <a:srgbClr val="000000">
                <a:alpha val="12673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6" name="How to know which random effects to include in our models"/>
          <p:cNvSpPr txBox="1"/>
          <p:nvPr/>
        </p:nvSpPr>
        <p:spPr>
          <a:xfrm>
            <a:off x="6227342" y="7443713"/>
            <a:ext cx="15414534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How to know </a:t>
            </a:r>
            <a:r>
              <a:rPr b="1"/>
              <a:t>which random effects</a:t>
            </a:r>
            <a:r>
              <a:t> to include in our models</a:t>
            </a:r>
          </a:p>
        </p:txBody>
      </p:sp>
      <p:sp>
        <p:nvSpPr>
          <p:cNvPr id="737" name="Examine impact of mixed ANOVA vs. ANCOVA for modeling RCT data"/>
          <p:cNvSpPr txBox="1"/>
          <p:nvPr/>
        </p:nvSpPr>
        <p:spPr>
          <a:xfrm>
            <a:off x="2065549" y="3970141"/>
            <a:ext cx="16481493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b="1" sz="4000"/>
            </a:pPr>
            <a:r>
              <a:rPr b="0"/>
              <a:t>Examine impact of </a:t>
            </a:r>
            <a:r>
              <a:t>mixed ANOVA vs. ANCOVA </a:t>
            </a:r>
            <a:r>
              <a:rPr b="0"/>
              <a:t>for modeling RCT data</a:t>
            </a:r>
          </a:p>
        </p:txBody>
      </p:sp>
      <p:sp>
        <p:nvSpPr>
          <p:cNvPr id="738" name="Rounded Rectangle"/>
          <p:cNvSpPr/>
          <p:nvPr/>
        </p:nvSpPr>
        <p:spPr>
          <a:xfrm>
            <a:off x="1226261" y="9976401"/>
            <a:ext cx="16870948" cy="2590934"/>
          </a:xfrm>
          <a:prstGeom prst="roundRect">
            <a:avLst>
              <a:gd name="adj" fmla="val 49641"/>
            </a:avLst>
          </a:prstGeom>
          <a:solidFill>
            <a:srgbClr val="FF4C54">
              <a:alpha val="14948"/>
            </a:srgbClr>
          </a:solidFill>
          <a:ln w="25400">
            <a:solidFill>
              <a:srgbClr val="E8D7A9">
                <a:alpha val="14948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9" name="Introduce the idea of good and bad controls from a causal inference perspective"/>
          <p:cNvSpPr txBox="1"/>
          <p:nvPr/>
        </p:nvSpPr>
        <p:spPr>
          <a:xfrm>
            <a:off x="2696645" y="10636513"/>
            <a:ext cx="13930180" cy="1270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4000"/>
            </a:pPr>
            <a:r>
              <a:t>Introduce the idea of </a:t>
            </a:r>
            <a:r>
              <a:rPr b="1"/>
              <a:t>good and bad controls </a:t>
            </a:r>
            <a:r>
              <a:t>from a </a:t>
            </a:r>
            <a:r>
              <a:rPr b="1"/>
              <a:t>causal inference</a:t>
            </a:r>
            <a:r>
              <a:t> perspective</a:t>
            </a:r>
          </a:p>
        </p:txBody>
      </p:sp>
      <p:sp>
        <p:nvSpPr>
          <p:cNvPr id="74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